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72" r:id="rId5"/>
    <p:sldId id="274" r:id="rId6"/>
    <p:sldId id="261" r:id="rId7"/>
    <p:sldId id="262" r:id="rId8"/>
    <p:sldId id="263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2" autoAdjust="0"/>
    <p:restoredTop sz="94404" autoAdjust="0"/>
  </p:normalViewPr>
  <p:slideViewPr>
    <p:cSldViewPr>
      <p:cViewPr varScale="1">
        <p:scale>
          <a:sx n="70" d="100"/>
          <a:sy n="70" d="100"/>
        </p:scale>
        <p:origin x="36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dt" sz="half" idx="10"/>
          </p:nvPr>
        </p:nvSpPr>
        <p:spPr>
          <a:xfrm>
            <a:off x="5504656" y="6438900"/>
            <a:ext cx="1802924" cy="21590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2024/8/1</a:t>
            </a:r>
          </a:p>
        </p:txBody>
      </p:sp>
      <p:sp>
        <p:nvSpPr>
          <p:cNvPr id="3" name="AutoShape 3"/>
          <p:cNvSpPr>
            <a:spLocks noGrp="1"/>
          </p:cNvSpPr>
          <p:nvPr>
            <p:ph type="ftr" sz="quarter" idx="11"/>
          </p:nvPr>
        </p:nvSpPr>
        <p:spPr>
          <a:xfrm>
            <a:off x="660401" y="6438900"/>
            <a:ext cx="3992171" cy="21590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sldNum" sz="quarter" idx="12"/>
          </p:nvPr>
        </p:nvSpPr>
        <p:spPr>
          <a:xfrm>
            <a:off x="8857452" y="6438900"/>
            <a:ext cx="2661448" cy="21590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  <a:endParaRPr lang="zh-CN" altLang="en-US" sz="10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en-US" sz="1800" b="0" i="0" u="none" baseline="0" dirty="0">
                <a:solidFill>
                  <a:schemeClr val="accent1"/>
                </a:solidFill>
                <a:latin typeface="Arial"/>
                <a:ea typeface="Arial"/>
              </a:rPr>
              <a:t> </a:t>
            </a:r>
          </a:p>
        </p:txBody>
      </p:sp>
      <p:sp>
        <p:nvSpPr>
          <p:cNvPr id="3" name="AutoShape 3"/>
          <p:cNvSpPr/>
          <p:nvPr/>
        </p:nvSpPr>
        <p:spPr>
          <a:xfrm>
            <a:off x="47653" y="4683066"/>
            <a:ext cx="12131647" cy="2153832"/>
          </a:xfrm>
          <a:prstGeom prst="roundRect">
            <a:avLst>
              <a:gd name="adj" fmla="val 0"/>
            </a:avLst>
          </a:prstGeom>
          <a:noFill/>
          <a:ln w="95250" cap="flat" cmpd="sng">
            <a:solidFill>
              <a:srgbClr val="0722AD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783246" y="15226"/>
            <a:ext cx="2393277" cy="1430569"/>
          </a:xfrm>
          <a:prstGeom prst="roundRect">
            <a:avLst>
              <a:gd name="adj" fmla="val 0"/>
            </a:avLst>
          </a:prstGeom>
          <a:noFill/>
          <a:ln w="69850" cap="flat" cmpd="sng">
            <a:solidFill>
              <a:srgbClr val="0722AD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783246" y="1445795"/>
            <a:ext cx="2393277" cy="5391103"/>
          </a:xfrm>
          <a:prstGeom prst="roundRect">
            <a:avLst>
              <a:gd name="adj" fmla="val 0"/>
            </a:avLst>
          </a:prstGeom>
          <a:noFill/>
          <a:ln w="95250" cap="flat" cmpd="sng">
            <a:solidFill>
              <a:srgbClr val="0722AD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 rot="5400000" flipH="1">
            <a:off x="2192714" y="207997"/>
            <a:ext cx="1173162" cy="5437881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0" cap="flat" cmpd="sng">
            <a:solidFill>
              <a:srgbClr val="0722AD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 rot="5400000" flipH="1">
            <a:off x="2195681" y="1380511"/>
            <a:ext cx="1167228" cy="5437882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0" cap="flat" cmpd="sng">
            <a:solidFill>
              <a:srgbClr val="0722AD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2439688" y="15226"/>
            <a:ext cx="3103709" cy="6806447"/>
          </a:xfrm>
          <a:prstGeom prst="rect">
            <a:avLst/>
          </a:prstGeom>
          <a:noFill/>
          <a:ln w="76200" cap="flat" cmpd="sng">
            <a:solidFill>
              <a:srgbClr val="0722AD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583096" y="2336800"/>
            <a:ext cx="2333472" cy="2333472"/>
          </a:xfrm>
          <a:prstGeom prst="ellipse">
            <a:avLst/>
          </a:prstGeom>
          <a:noFill/>
          <a:ln w="95250" cap="flat" cmpd="sng">
            <a:solidFill>
              <a:srgbClr val="0722AD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182445" y="2302407"/>
            <a:ext cx="3782286" cy="1207555"/>
          </a:xfrm>
          <a:prstGeom prst="roundRect">
            <a:avLst>
              <a:gd name="adj" fmla="val 0"/>
            </a:avLst>
          </a:prstGeom>
          <a:noFill/>
          <a:ln w="95250" cap="flat" cmpd="sng">
            <a:solidFill>
              <a:srgbClr val="0722AD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964731" y="2307301"/>
            <a:ext cx="2362971" cy="2362971"/>
          </a:xfrm>
          <a:prstGeom prst="ellipse">
            <a:avLst/>
          </a:prstGeom>
          <a:noFill/>
          <a:ln w="95250" cap="flat" cmpd="sng">
            <a:solidFill>
              <a:srgbClr val="0722AD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12" name="Connector 12"/>
          <p:cNvCxnSpPr/>
          <p:nvPr/>
        </p:nvCxnSpPr>
        <p:spPr>
          <a:xfrm flipH="1">
            <a:off x="10729068" y="2801257"/>
            <a:ext cx="1462932" cy="1522966"/>
          </a:xfrm>
          <a:prstGeom prst="line">
            <a:avLst/>
          </a:prstGeom>
          <a:noFill/>
          <a:ln w="95250" cap="flat" cmpd="sng">
            <a:solidFill>
              <a:srgbClr val="0722AD"/>
            </a:solidFill>
            <a:prstDash val="solid"/>
          </a:ln>
        </p:spPr>
      </p:cxnSp>
      <p:sp>
        <p:nvSpPr>
          <p:cNvPr id="13" name="Freeform 13"/>
          <p:cNvSpPr/>
          <p:nvPr/>
        </p:nvSpPr>
        <p:spPr>
          <a:xfrm>
            <a:off x="47653" y="5237393"/>
            <a:ext cx="1861100" cy="1599505"/>
          </a:xfrm>
          <a:custGeom>
            <a:avLst/>
            <a:gdLst/>
            <a:ahLst/>
            <a:cxnLst/>
            <a:rect l="l" t="t" r="r" b="b"/>
            <a:pathLst>
              <a:path w="1908753" h="1620607">
                <a:moveTo>
                  <a:pt x="461890" y="0"/>
                </a:moveTo>
                <a:cubicBezTo>
                  <a:pt x="1260970" y="0"/>
                  <a:pt x="1908753" y="647783"/>
                  <a:pt x="1908753" y="1446863"/>
                </a:cubicBezTo>
                <a:cubicBezTo>
                  <a:pt x="1908753" y="1496806"/>
                  <a:pt x="1906223" y="1546157"/>
                  <a:pt x="1901283" y="1594797"/>
                </a:cubicBezTo>
                <a:lnTo>
                  <a:pt x="1897344" y="1620607"/>
                </a:lnTo>
                <a:lnTo>
                  <a:pt x="0" y="1620607"/>
                </a:lnTo>
                <a:lnTo>
                  <a:pt x="0" y="76628"/>
                </a:lnTo>
                <a:lnTo>
                  <a:pt x="31637" y="65048"/>
                </a:lnTo>
                <a:cubicBezTo>
                  <a:pt x="167554" y="22774"/>
                  <a:pt x="312063" y="0"/>
                  <a:pt x="461890" y="0"/>
                </a:cubicBezTo>
                <a:close/>
              </a:path>
            </a:pathLst>
          </a:custGeom>
          <a:noFill/>
          <a:ln w="95250" cap="flat" cmpd="sng">
            <a:solidFill>
              <a:srgbClr val="0722AD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4" name="Freeform 14"/>
          <p:cNvSpPr/>
          <p:nvPr userDrawn="1"/>
        </p:nvSpPr>
        <p:spPr>
          <a:xfrm>
            <a:off x="2455638" y="21101"/>
            <a:ext cx="9620020" cy="2281305"/>
          </a:xfrm>
          <a:custGeom>
            <a:avLst/>
            <a:gdLst/>
            <a:ahLst/>
            <a:cxnLst/>
            <a:rect l="l" t="t" r="r" b="b"/>
            <a:pathLst>
              <a:path w="9448800" h="2389192">
                <a:moveTo>
                  <a:pt x="181398" y="0"/>
                </a:moveTo>
                <a:lnTo>
                  <a:pt x="9267402" y="0"/>
                </a:lnTo>
                <a:lnTo>
                  <a:pt x="9319805" y="108781"/>
                </a:lnTo>
                <a:cubicBezTo>
                  <a:pt x="9402868" y="305164"/>
                  <a:pt x="9448800" y="521077"/>
                  <a:pt x="9448800" y="747717"/>
                </a:cubicBezTo>
                <a:cubicBezTo>
                  <a:pt x="9448800" y="1654279"/>
                  <a:pt x="8713887" y="2389192"/>
                  <a:pt x="7807325" y="2389192"/>
                </a:cubicBezTo>
                <a:lnTo>
                  <a:pt x="1641475" y="2389192"/>
                </a:lnTo>
                <a:cubicBezTo>
                  <a:pt x="734913" y="2389192"/>
                  <a:pt x="0" y="1654279"/>
                  <a:pt x="0" y="747717"/>
                </a:cubicBezTo>
                <a:cubicBezTo>
                  <a:pt x="0" y="521077"/>
                  <a:pt x="45932" y="305164"/>
                  <a:pt x="128995" y="108781"/>
                </a:cubicBezTo>
                <a:close/>
              </a:path>
            </a:pathLst>
          </a:custGeom>
          <a:noFill/>
          <a:ln w="88900" cap="flat" cmpd="sng">
            <a:solidFill>
              <a:srgbClr val="0722AD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15" name="Connector 15"/>
          <p:cNvCxnSpPr/>
          <p:nvPr/>
        </p:nvCxnSpPr>
        <p:spPr>
          <a:xfrm>
            <a:off x="4182445" y="3509962"/>
            <a:ext cx="0" cy="1160310"/>
          </a:xfrm>
          <a:prstGeom prst="line">
            <a:avLst/>
          </a:prstGeom>
          <a:noFill/>
          <a:ln w="95250" cap="flat" cmpd="sng">
            <a:solidFill>
              <a:srgbClr val="0722AD"/>
            </a:solidFill>
            <a:prstDash val="solid"/>
          </a:ln>
        </p:spPr>
      </p:cxnSp>
      <p:sp>
        <p:nvSpPr>
          <p:cNvPr id="16" name="AutoShape 16"/>
          <p:cNvSpPr/>
          <p:nvPr/>
        </p:nvSpPr>
        <p:spPr>
          <a:xfrm>
            <a:off x="60355" y="21102"/>
            <a:ext cx="2339966" cy="2339966"/>
          </a:xfrm>
          <a:prstGeom prst="ellipse">
            <a:avLst/>
          </a:prstGeom>
          <a:noFill/>
          <a:ln w="95250" cap="flat" cmpd="sng">
            <a:solidFill>
              <a:srgbClr val="0722AD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 dirty="0"/>
          </a:p>
        </p:txBody>
      </p:sp>
      <p:sp>
        <p:nvSpPr>
          <p:cNvPr id="17" name="AutoShape 17"/>
          <p:cNvSpPr/>
          <p:nvPr userDrawn="1"/>
        </p:nvSpPr>
        <p:spPr>
          <a:xfrm>
            <a:off x="60354" y="0"/>
            <a:ext cx="12118945" cy="6815798"/>
          </a:xfrm>
          <a:prstGeom prst="rect">
            <a:avLst/>
          </a:prstGeom>
          <a:noFill/>
          <a:ln w="95250" cap="flat" cmpd="sng">
            <a:solidFill>
              <a:srgbClr val="0722AD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8" name="AutoShape 18"/>
          <p:cNvSpPr>
            <a:spLocks noGrp="1"/>
          </p:cNvSpPr>
          <p:nvPr>
            <p:ph type="ctrTitle"/>
          </p:nvPr>
        </p:nvSpPr>
        <p:spPr>
          <a:xfrm>
            <a:off x="660400" y="2336800"/>
            <a:ext cx="10858500" cy="1173162"/>
          </a:xfrm>
        </p:spPr>
        <p:txBody>
          <a:bodyPr vert="horz" lIns="91440" tIns="45720" rIns="91440" bIns="4572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6600" b="1" i="0" u="none" baseline="0">
                <a:solidFill>
                  <a:srgbClr val="FFFFFF"/>
                </a:solidFill>
                <a:latin typeface="Arial"/>
                <a:ea typeface="Arial"/>
              </a:rPr>
              <a:t>Click to edit </a:t>
            </a:r>
            <a:br>
              <a:rPr lang="en-US" sz="6600" b="1" i="0" u="none" baseline="0">
                <a:solidFill>
                  <a:srgbClr val="FFFFFF"/>
                </a:solidFill>
                <a:latin typeface="Arial"/>
                <a:ea typeface="Arial"/>
              </a:rPr>
            </a:br>
            <a:r>
              <a:rPr lang="en-US" sz="6600" b="1" i="0" u="none" baseline="0">
                <a:solidFill>
                  <a:srgbClr val="FFFFFF"/>
                </a:solidFill>
                <a:latin typeface="Arial"/>
                <a:ea typeface="Arial"/>
              </a:rPr>
              <a:t>Master title style</a:t>
            </a:r>
          </a:p>
        </p:txBody>
      </p:sp>
      <p:sp>
        <p:nvSpPr>
          <p:cNvPr id="19" name="AutoShape 19"/>
          <p:cNvSpPr>
            <a:spLocks noGrp="1"/>
          </p:cNvSpPr>
          <p:nvPr>
            <p:ph type="subTitle" idx="1"/>
          </p:nvPr>
        </p:nvSpPr>
        <p:spPr>
          <a:xfrm>
            <a:off x="3823091" y="3509962"/>
            <a:ext cx="4533118" cy="535853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 vert="horz" lIns="91440" tIns="45720" rIns="91440" bIns="45720" anchor="ctr">
            <a:noAutofit/>
          </a:bodyPr>
          <a:lstStyle/>
          <a:p>
            <a:pPr marL="228600" indent="-228600" algn="ctr">
              <a:lnSpc>
                <a:spcPct val="90000"/>
              </a:lnSpc>
              <a:spcBef>
                <a:spcPct val="0"/>
              </a:spcBef>
            </a:pPr>
            <a:r>
              <a:rPr lang="en-US" sz="1600" b="0" i="0" u="none" baseline="0">
                <a:solidFill>
                  <a:srgbClr val="0E33CB"/>
                </a:solidFill>
                <a:latin typeface="Arial"/>
                <a:ea typeface="Arial"/>
              </a:rPr>
              <a:t>Click to edit Master subtitle style</a:t>
            </a:r>
          </a:p>
        </p:txBody>
      </p:sp>
      <p:sp>
        <p:nvSpPr>
          <p:cNvPr id="20" name="Freeform 20"/>
          <p:cNvSpPr/>
          <p:nvPr/>
        </p:nvSpPr>
        <p:spPr>
          <a:xfrm>
            <a:off x="10383019" y="2307301"/>
            <a:ext cx="1796280" cy="2362972"/>
          </a:xfrm>
          <a:custGeom>
            <a:avLst/>
            <a:gdLst/>
            <a:ahLst/>
            <a:cxnLst/>
            <a:rect l="l" t="t" r="r" b="b"/>
            <a:pathLst>
              <a:path w="1826586" h="2362972">
                <a:moveTo>
                  <a:pt x="1181486" y="0"/>
                </a:moveTo>
                <a:cubicBezTo>
                  <a:pt x="1385398" y="0"/>
                  <a:pt x="1577244" y="51657"/>
                  <a:pt x="1744653" y="142599"/>
                </a:cubicBezTo>
                <a:lnTo>
                  <a:pt x="1826586" y="192375"/>
                </a:lnTo>
                <a:lnTo>
                  <a:pt x="1826586" y="2170598"/>
                </a:lnTo>
                <a:lnTo>
                  <a:pt x="1744653" y="2220373"/>
                </a:lnTo>
                <a:cubicBezTo>
                  <a:pt x="1577244" y="2311315"/>
                  <a:pt x="1385398" y="2362972"/>
                  <a:pt x="1181486" y="2362972"/>
                </a:cubicBezTo>
                <a:cubicBezTo>
                  <a:pt x="528969" y="2362972"/>
                  <a:pt x="0" y="1834003"/>
                  <a:pt x="0" y="1181486"/>
                </a:cubicBezTo>
                <a:cubicBezTo>
                  <a:pt x="0" y="528969"/>
                  <a:pt x="528969" y="0"/>
                  <a:pt x="1181486" y="0"/>
                </a:cubicBezTo>
                <a:close/>
              </a:path>
            </a:pathLst>
          </a:custGeom>
          <a:noFill/>
          <a:ln w="95250" cap="flat" cmpd="sng">
            <a:solidFill>
              <a:srgbClr val="0722AD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BDB1D6D-ED3E-D783-DFE8-AE5172EFD1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1635" y="125720"/>
            <a:ext cx="1219048" cy="520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idx="1"/>
          </p:nvPr>
        </p:nvSpPr>
        <p:spPr>
          <a:xfrm>
            <a:off x="660400" y="1130300"/>
            <a:ext cx="10858500" cy="5003800"/>
          </a:xfrm>
        </p:spPr>
        <p:txBody>
          <a:bodyPr vert="horz" lIns="91440" tIns="45720" rIns="91440" bIns="45720" anchor="t">
            <a:normAutofit/>
          </a:bodyPr>
          <a:lstStyle/>
          <a:p>
            <a:pPr marL="228600" indent="-228600" algn="l">
              <a:lnSpc>
                <a:spcPct val="9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text styles</a:t>
            </a:r>
          </a:p>
          <a:p>
            <a:pPr marL="685800" lvl="1" indent="-228600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3000" lvl="2" indent="-228600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200" lvl="3" indent="-228600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400" lvl="4" indent="-228600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dt" sz="half" idx="10"/>
          </p:nvPr>
        </p:nvSpPr>
        <p:spPr>
          <a:xfrm>
            <a:off x="5504656" y="6438900"/>
            <a:ext cx="1802924" cy="21590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2024/8/1</a:t>
            </a:r>
          </a:p>
        </p:txBody>
      </p:sp>
      <p:sp>
        <p:nvSpPr>
          <p:cNvPr id="5" name="AutoShape 5"/>
          <p:cNvSpPr>
            <a:spLocks noGrp="1"/>
          </p:cNvSpPr>
          <p:nvPr>
            <p:ph type="ftr" sz="quarter" idx="11"/>
          </p:nvPr>
        </p:nvSpPr>
        <p:spPr>
          <a:xfrm>
            <a:off x="660401" y="6438900"/>
            <a:ext cx="3992171" cy="21590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sldNum" sz="quarter" idx="12"/>
          </p:nvPr>
        </p:nvSpPr>
        <p:spPr>
          <a:xfrm>
            <a:off x="8857452" y="6438900"/>
            <a:ext cx="2661448" cy="21590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  <a:endParaRPr lang="zh-CN" altLang="en-US" sz="10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4"/>
          </p:nvPr>
        </p:nvSpPr>
        <p:spPr>
          <a:xfrm>
            <a:off x="660400" y="1500188"/>
            <a:ext cx="2836562" cy="594626"/>
          </a:xfrm>
        </p:spPr>
        <p:txBody>
          <a:bodyPr vert="horz" lIns="91440" tIns="45720" rIns="91440" bIns="45720" anchor="t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1000"/>
              </a:spcBef>
            </a:pPr>
            <a:r>
              <a:rPr lang="en-US" sz="2400" b="1" i="0" u="none" baseline="0">
                <a:solidFill>
                  <a:srgbClr val="000000"/>
                </a:solidFill>
                <a:latin typeface="Arial"/>
                <a:ea typeface="Arial"/>
              </a:rPr>
              <a:t>CONTENTS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3"/>
          </p:nvPr>
        </p:nvSpPr>
        <p:spPr>
          <a:xfrm>
            <a:off x="3647836" y="1500187"/>
            <a:ext cx="7871045" cy="4633913"/>
          </a:xfrm>
        </p:spPr>
        <p:txBody>
          <a:bodyPr vert="horz" lIns="91440" tIns="45720" rIns="91440" bIns="45720" anchor="t">
            <a:normAutofit/>
          </a:bodyPr>
          <a:lstStyle/>
          <a:p>
            <a:pPr marL="342900" indent="-342900" algn="l">
              <a:lnSpc>
                <a:spcPct val="9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text styles</a:t>
            </a:r>
          </a:p>
          <a:p>
            <a:pPr marL="800100" lvl="1" indent="-342900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257300" lvl="2" indent="-342900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200" lvl="3" indent="-228600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400" lvl="4" indent="-228600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ftr" sz="quarter" idx="10"/>
          </p:nvPr>
        </p:nvSpPr>
        <p:spPr>
          <a:xfrm>
            <a:off x="660401" y="6438900"/>
            <a:ext cx="3992171" cy="21590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dt" sz="half" idx="11"/>
          </p:nvPr>
        </p:nvSpPr>
        <p:spPr>
          <a:xfrm>
            <a:off x="5504656" y="6438900"/>
            <a:ext cx="1802924" cy="21590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2024/8/1</a:t>
            </a:r>
          </a:p>
        </p:txBody>
      </p:sp>
      <p:sp>
        <p:nvSpPr>
          <p:cNvPr id="6" name="AutoShape 6"/>
          <p:cNvSpPr>
            <a:spLocks noGrp="1"/>
          </p:cNvSpPr>
          <p:nvPr>
            <p:ph type="sldNum" sz="quarter" idx="12"/>
          </p:nvPr>
        </p:nvSpPr>
        <p:spPr>
          <a:xfrm>
            <a:off x="8857452" y="6438900"/>
            <a:ext cx="2661448" cy="21590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  <a:endParaRPr lang="en-US" sz="10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Arial"/>
              <a:ea typeface="Arial"/>
            </a:endParaRPr>
          </a:p>
        </p:txBody>
      </p:sp>
      <p:cxnSp>
        <p:nvCxnSpPr>
          <p:cNvPr id="7" name="Connector 7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>
            <a:solidFill>
              <a:srgbClr val="FFFFFF">
                <a:alpha val="0"/>
                <a:lumMod val="75000"/>
              </a:srgbClr>
            </a:solidFill>
            <a:prstDash val="solid"/>
          </a:ln>
        </p:spPr>
      </p:cxnSp>
      <p:sp>
        <p:nvSpPr>
          <p:cNvPr id="8" name="Freeform 8"/>
          <p:cNvSpPr/>
          <p:nvPr/>
        </p:nvSpPr>
        <p:spPr>
          <a:xfrm>
            <a:off x="2626456" y="5219207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FFFFFF">
              <a:alpha val="0"/>
              <a:lumMod val="85000"/>
            </a:srgbClr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chemeClr val="accent1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r>
                <a:rPr lang="en-US" sz="1800" b="0" i="0" u="none" baseline="0" dirty="0">
                  <a:solidFill>
                    <a:schemeClr val="lt1"/>
                  </a:solidFill>
                  <a:latin typeface="Arial"/>
                  <a:ea typeface="Arial"/>
                </a:rPr>
                <a:t> </a:t>
              </a:r>
            </a:p>
          </p:txBody>
        </p:sp>
        <p:sp>
          <p:nvSpPr>
            <p:cNvPr id="4" name="AutoShape 4"/>
            <p:cNvSpPr/>
            <p:nvPr/>
          </p:nvSpPr>
          <p:spPr>
            <a:xfrm>
              <a:off x="47653" y="4683066"/>
              <a:ext cx="12131647" cy="2153832"/>
            </a:xfrm>
            <a:prstGeom prst="roundRect">
              <a:avLst>
                <a:gd name="adj" fmla="val 0"/>
              </a:avLst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5" name="AutoShape 5"/>
            <p:cNvSpPr/>
            <p:nvPr/>
          </p:nvSpPr>
          <p:spPr>
            <a:xfrm>
              <a:off x="6783246" y="15226"/>
              <a:ext cx="2393277" cy="1430569"/>
            </a:xfrm>
            <a:prstGeom prst="roundRect">
              <a:avLst>
                <a:gd name="adj" fmla="val 0"/>
              </a:avLst>
            </a:prstGeom>
            <a:noFill/>
            <a:ln w="698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AutoShape 6"/>
            <p:cNvSpPr/>
            <p:nvPr/>
          </p:nvSpPr>
          <p:spPr>
            <a:xfrm>
              <a:off x="6783246" y="1445795"/>
              <a:ext cx="2393277" cy="5391103"/>
            </a:xfrm>
            <a:prstGeom prst="roundRect">
              <a:avLst>
                <a:gd name="adj" fmla="val 0"/>
              </a:avLst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7" name="AutoShape 7"/>
            <p:cNvSpPr/>
            <p:nvPr/>
          </p:nvSpPr>
          <p:spPr>
            <a:xfrm rot="5400000" flipH="1">
              <a:off x="2192714" y="207997"/>
              <a:ext cx="1173162" cy="5437881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8" name="AutoShape 8"/>
            <p:cNvSpPr/>
            <p:nvPr/>
          </p:nvSpPr>
          <p:spPr>
            <a:xfrm rot="5400000" flipH="1">
              <a:off x="2195681" y="1380511"/>
              <a:ext cx="1167228" cy="5437882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2439688" y="15226"/>
              <a:ext cx="3103709" cy="6806447"/>
            </a:xfrm>
            <a:prstGeom prst="rect">
              <a:avLst/>
            </a:prstGeom>
            <a:noFill/>
            <a:ln w="7620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5583096" y="2336800"/>
              <a:ext cx="2333472" cy="2333472"/>
            </a:xfrm>
            <a:prstGeom prst="ellipse">
              <a:avLst/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4182445" y="2302407"/>
              <a:ext cx="3782286" cy="1207555"/>
            </a:xfrm>
            <a:prstGeom prst="roundRect">
              <a:avLst>
                <a:gd name="adj" fmla="val 0"/>
              </a:avLst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7964731" y="2307301"/>
              <a:ext cx="2362971" cy="2362971"/>
            </a:xfrm>
            <a:prstGeom prst="ellipse">
              <a:avLst/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cxnSp>
          <p:nvCxnSpPr>
            <p:cNvPr id="13" name="Connector 13"/>
            <p:cNvCxnSpPr/>
            <p:nvPr/>
          </p:nvCxnSpPr>
          <p:spPr>
            <a:xfrm flipH="1">
              <a:off x="10729068" y="2801257"/>
              <a:ext cx="1462932" cy="1522966"/>
            </a:xfrm>
            <a:prstGeom prst="line">
              <a:avLst/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</p:cxnSp>
        <p:sp>
          <p:nvSpPr>
            <p:cNvPr id="14" name="AutoShape 14"/>
            <p:cNvSpPr/>
            <p:nvPr/>
          </p:nvSpPr>
          <p:spPr>
            <a:xfrm>
              <a:off x="3721822" y="6141441"/>
              <a:ext cx="3061423" cy="695457"/>
            </a:xfrm>
            <a:prstGeom prst="roundRect">
              <a:avLst>
                <a:gd name="adj" fmla="val 0"/>
              </a:avLst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5" name="Freeform 15"/>
            <p:cNvSpPr/>
            <p:nvPr/>
          </p:nvSpPr>
          <p:spPr>
            <a:xfrm>
              <a:off x="47653" y="5237393"/>
              <a:ext cx="1861100" cy="1599505"/>
            </a:xfrm>
            <a:custGeom>
              <a:avLst/>
              <a:gdLst/>
              <a:ahLst/>
              <a:cxnLst/>
              <a:rect l="l" t="t" r="r" b="b"/>
              <a:pathLst>
                <a:path w="1908753" h="1620607">
                  <a:moveTo>
                    <a:pt x="461890" y="0"/>
                  </a:moveTo>
                  <a:cubicBezTo>
                    <a:pt x="1260970" y="0"/>
                    <a:pt x="1908753" y="647783"/>
                    <a:pt x="1908753" y="1446863"/>
                  </a:cubicBezTo>
                  <a:cubicBezTo>
                    <a:pt x="1908753" y="1496806"/>
                    <a:pt x="1906223" y="1546157"/>
                    <a:pt x="1901283" y="1594797"/>
                  </a:cubicBezTo>
                  <a:lnTo>
                    <a:pt x="1897344" y="1620607"/>
                  </a:lnTo>
                  <a:lnTo>
                    <a:pt x="0" y="1620607"/>
                  </a:lnTo>
                  <a:lnTo>
                    <a:pt x="0" y="76628"/>
                  </a:lnTo>
                  <a:lnTo>
                    <a:pt x="31637" y="65048"/>
                  </a:lnTo>
                  <a:cubicBezTo>
                    <a:pt x="167554" y="22774"/>
                    <a:pt x="312063" y="0"/>
                    <a:pt x="461890" y="0"/>
                  </a:cubicBezTo>
                  <a:close/>
                </a:path>
              </a:pathLst>
            </a:cu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6" name="Freeform 16"/>
            <p:cNvSpPr/>
            <p:nvPr/>
          </p:nvSpPr>
          <p:spPr>
            <a:xfrm>
              <a:off x="2455638" y="21101"/>
              <a:ext cx="9620020" cy="2281305"/>
            </a:xfrm>
            <a:custGeom>
              <a:avLst/>
              <a:gdLst/>
              <a:ahLst/>
              <a:cxnLst/>
              <a:rect l="l" t="t" r="r" b="b"/>
              <a:pathLst>
                <a:path w="9448800" h="2389192">
                  <a:moveTo>
                    <a:pt x="181398" y="0"/>
                  </a:moveTo>
                  <a:lnTo>
                    <a:pt x="9267402" y="0"/>
                  </a:lnTo>
                  <a:lnTo>
                    <a:pt x="9319805" y="108781"/>
                  </a:lnTo>
                  <a:cubicBezTo>
                    <a:pt x="9402868" y="305164"/>
                    <a:pt x="9448800" y="521077"/>
                    <a:pt x="9448800" y="747717"/>
                  </a:cubicBezTo>
                  <a:cubicBezTo>
                    <a:pt x="9448800" y="1654279"/>
                    <a:pt x="8713887" y="2389192"/>
                    <a:pt x="7807325" y="2389192"/>
                  </a:cubicBezTo>
                  <a:lnTo>
                    <a:pt x="1641475" y="2389192"/>
                  </a:lnTo>
                  <a:cubicBezTo>
                    <a:pt x="734913" y="2389192"/>
                    <a:pt x="0" y="1654279"/>
                    <a:pt x="0" y="747717"/>
                  </a:cubicBezTo>
                  <a:cubicBezTo>
                    <a:pt x="0" y="521077"/>
                    <a:pt x="45932" y="305164"/>
                    <a:pt x="128995" y="108781"/>
                  </a:cubicBezTo>
                  <a:close/>
                </a:path>
              </a:pathLst>
            </a:custGeom>
            <a:noFill/>
            <a:ln w="8890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cxnSp>
          <p:nvCxnSpPr>
            <p:cNvPr id="17" name="Connector 17"/>
            <p:cNvCxnSpPr/>
            <p:nvPr/>
          </p:nvCxnSpPr>
          <p:spPr>
            <a:xfrm>
              <a:off x="4182445" y="3509962"/>
              <a:ext cx="0" cy="1160310"/>
            </a:xfrm>
            <a:prstGeom prst="line">
              <a:avLst/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</p:cxnSp>
        <p:sp>
          <p:nvSpPr>
            <p:cNvPr id="18" name="AutoShape 18"/>
            <p:cNvSpPr/>
            <p:nvPr/>
          </p:nvSpPr>
          <p:spPr>
            <a:xfrm>
              <a:off x="60355" y="21102"/>
              <a:ext cx="2339966" cy="2339966"/>
            </a:xfrm>
            <a:prstGeom prst="ellipse">
              <a:avLst/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60354" y="21100"/>
              <a:ext cx="12118945" cy="6815798"/>
            </a:xfrm>
            <a:prstGeom prst="rect">
              <a:avLst/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20" name="Freeform 20"/>
            <p:cNvSpPr/>
            <p:nvPr/>
          </p:nvSpPr>
          <p:spPr>
            <a:xfrm>
              <a:off x="6813553" y="5979083"/>
              <a:ext cx="2366067" cy="857815"/>
            </a:xfrm>
            <a:custGeom>
              <a:avLst/>
              <a:gdLst/>
              <a:ahLst/>
              <a:cxnLst/>
              <a:rect l="l" t="t" r="r" b="b"/>
              <a:pathLst>
                <a:path w="2366067" h="857815">
                  <a:moveTo>
                    <a:pt x="1167442" y="0"/>
                  </a:moveTo>
                  <a:cubicBezTo>
                    <a:pt x="1692519" y="0"/>
                    <a:pt x="2143033" y="319244"/>
                    <a:pt x="2335472" y="774222"/>
                  </a:cubicBezTo>
                  <a:lnTo>
                    <a:pt x="2366067" y="857815"/>
                  </a:lnTo>
                  <a:lnTo>
                    <a:pt x="0" y="857815"/>
                  </a:lnTo>
                  <a:lnTo>
                    <a:pt x="0" y="773002"/>
                  </a:lnTo>
                  <a:lnTo>
                    <a:pt x="52793" y="663412"/>
                  </a:lnTo>
                  <a:cubicBezTo>
                    <a:pt x="267455" y="268254"/>
                    <a:pt x="686121" y="0"/>
                    <a:pt x="1167442" y="0"/>
                  </a:cubicBezTo>
                  <a:close/>
                </a:path>
              </a:pathLst>
            </a:cu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21" name="Freeform 21"/>
            <p:cNvSpPr/>
            <p:nvPr/>
          </p:nvSpPr>
          <p:spPr>
            <a:xfrm>
              <a:off x="10383019" y="2307301"/>
              <a:ext cx="1796280" cy="2362972"/>
            </a:xfrm>
            <a:custGeom>
              <a:avLst/>
              <a:gdLst/>
              <a:ahLst/>
              <a:cxnLst/>
              <a:rect l="l" t="t" r="r" b="b"/>
              <a:pathLst>
                <a:path w="1826586" h="2362972">
                  <a:moveTo>
                    <a:pt x="1181486" y="0"/>
                  </a:moveTo>
                  <a:cubicBezTo>
                    <a:pt x="1385398" y="0"/>
                    <a:pt x="1577244" y="51657"/>
                    <a:pt x="1744653" y="142599"/>
                  </a:cubicBezTo>
                  <a:lnTo>
                    <a:pt x="1826586" y="192375"/>
                  </a:lnTo>
                  <a:lnTo>
                    <a:pt x="1826586" y="2170598"/>
                  </a:lnTo>
                  <a:lnTo>
                    <a:pt x="1744653" y="2220373"/>
                  </a:lnTo>
                  <a:cubicBezTo>
                    <a:pt x="1577244" y="2311315"/>
                    <a:pt x="1385398" y="2362972"/>
                    <a:pt x="1181486" y="2362972"/>
                  </a:cubicBezTo>
                  <a:cubicBezTo>
                    <a:pt x="528969" y="2362972"/>
                    <a:pt x="0" y="1834003"/>
                    <a:pt x="0" y="1181486"/>
                  </a:cubicBezTo>
                  <a:cubicBezTo>
                    <a:pt x="0" y="528969"/>
                    <a:pt x="528969" y="0"/>
                    <a:pt x="1181486" y="0"/>
                  </a:cubicBezTo>
                  <a:close/>
                </a:path>
              </a:pathLst>
            </a:cu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22" name="AutoShape 22"/>
          <p:cNvSpPr>
            <a:spLocks noGrp="1"/>
          </p:cNvSpPr>
          <p:nvPr>
            <p:ph type="title"/>
          </p:nvPr>
        </p:nvSpPr>
        <p:spPr>
          <a:xfrm>
            <a:off x="660400" y="1951182"/>
            <a:ext cx="5731164" cy="951057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4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62F1DF2-F513-F655-CE5E-6B4D1BDFF3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1635" y="125720"/>
            <a:ext cx="1219048" cy="520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dt" sz="half" idx="10"/>
          </p:nvPr>
        </p:nvSpPr>
        <p:spPr>
          <a:xfrm>
            <a:off x="5504656" y="6438900"/>
            <a:ext cx="1802924" cy="21590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2024/8/1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ftr" sz="quarter" idx="11"/>
          </p:nvPr>
        </p:nvSpPr>
        <p:spPr>
          <a:xfrm>
            <a:off x="660401" y="6438900"/>
            <a:ext cx="3992171" cy="21590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sldNum" sz="quarter" idx="12"/>
          </p:nvPr>
        </p:nvSpPr>
        <p:spPr>
          <a:xfrm>
            <a:off x="8857452" y="6438900"/>
            <a:ext cx="2661448" cy="21590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  <a:endParaRPr lang="zh-CN" altLang="en-US" sz="10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chemeClr val="accent1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r>
                <a:rPr lang="en-US" sz="1800" b="0" i="0" u="none" baseline="0" dirty="0">
                  <a:solidFill>
                    <a:schemeClr val="lt1"/>
                  </a:solidFill>
                  <a:latin typeface="Arial"/>
                  <a:ea typeface="Arial"/>
                </a:rPr>
                <a:t> </a:t>
              </a:r>
            </a:p>
          </p:txBody>
        </p:sp>
        <p:sp>
          <p:nvSpPr>
            <p:cNvPr id="4" name="AutoShape 4"/>
            <p:cNvSpPr/>
            <p:nvPr/>
          </p:nvSpPr>
          <p:spPr>
            <a:xfrm>
              <a:off x="47653" y="4683066"/>
              <a:ext cx="12131647" cy="2153832"/>
            </a:xfrm>
            <a:prstGeom prst="roundRect">
              <a:avLst>
                <a:gd name="adj" fmla="val 0"/>
              </a:avLst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5" name="AutoShape 5"/>
            <p:cNvSpPr/>
            <p:nvPr/>
          </p:nvSpPr>
          <p:spPr>
            <a:xfrm>
              <a:off x="6783246" y="15226"/>
              <a:ext cx="2393277" cy="1430569"/>
            </a:xfrm>
            <a:prstGeom prst="roundRect">
              <a:avLst>
                <a:gd name="adj" fmla="val 0"/>
              </a:avLst>
            </a:prstGeom>
            <a:noFill/>
            <a:ln w="698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AutoShape 6"/>
            <p:cNvSpPr/>
            <p:nvPr/>
          </p:nvSpPr>
          <p:spPr>
            <a:xfrm>
              <a:off x="6783246" y="1445795"/>
              <a:ext cx="2393277" cy="5391103"/>
            </a:xfrm>
            <a:prstGeom prst="roundRect">
              <a:avLst>
                <a:gd name="adj" fmla="val 0"/>
              </a:avLst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7" name="AutoShape 7"/>
            <p:cNvSpPr/>
            <p:nvPr/>
          </p:nvSpPr>
          <p:spPr>
            <a:xfrm rot="5400000" flipH="1">
              <a:off x="2192714" y="207997"/>
              <a:ext cx="1173162" cy="5437881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8" name="AutoShape 8"/>
            <p:cNvSpPr/>
            <p:nvPr/>
          </p:nvSpPr>
          <p:spPr>
            <a:xfrm rot="5400000" flipH="1">
              <a:off x="2195681" y="1380511"/>
              <a:ext cx="1167228" cy="5437882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2439688" y="15226"/>
              <a:ext cx="3103709" cy="6806447"/>
            </a:xfrm>
            <a:prstGeom prst="rect">
              <a:avLst/>
            </a:prstGeom>
            <a:noFill/>
            <a:ln w="7620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5583096" y="2336800"/>
              <a:ext cx="2333472" cy="2333472"/>
            </a:xfrm>
            <a:prstGeom prst="ellipse">
              <a:avLst/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4182445" y="2302407"/>
              <a:ext cx="3782286" cy="1207555"/>
            </a:xfrm>
            <a:prstGeom prst="roundRect">
              <a:avLst>
                <a:gd name="adj" fmla="val 0"/>
              </a:avLst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7964731" y="2307301"/>
              <a:ext cx="2362971" cy="2362971"/>
            </a:xfrm>
            <a:prstGeom prst="ellipse">
              <a:avLst/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cxnSp>
          <p:nvCxnSpPr>
            <p:cNvPr id="13" name="Connector 13"/>
            <p:cNvCxnSpPr/>
            <p:nvPr/>
          </p:nvCxnSpPr>
          <p:spPr>
            <a:xfrm flipH="1">
              <a:off x="10729068" y="2801257"/>
              <a:ext cx="1462932" cy="1522966"/>
            </a:xfrm>
            <a:prstGeom prst="line">
              <a:avLst/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</p:cxnSp>
        <p:sp>
          <p:nvSpPr>
            <p:cNvPr id="14" name="AutoShape 14"/>
            <p:cNvSpPr/>
            <p:nvPr/>
          </p:nvSpPr>
          <p:spPr>
            <a:xfrm>
              <a:off x="3721822" y="6141441"/>
              <a:ext cx="3061423" cy="695457"/>
            </a:xfrm>
            <a:prstGeom prst="roundRect">
              <a:avLst>
                <a:gd name="adj" fmla="val 0"/>
              </a:avLst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5" name="Freeform 15"/>
            <p:cNvSpPr/>
            <p:nvPr/>
          </p:nvSpPr>
          <p:spPr>
            <a:xfrm>
              <a:off x="47653" y="5237393"/>
              <a:ext cx="1861100" cy="1599505"/>
            </a:xfrm>
            <a:custGeom>
              <a:avLst/>
              <a:gdLst/>
              <a:ahLst/>
              <a:cxnLst/>
              <a:rect l="l" t="t" r="r" b="b"/>
              <a:pathLst>
                <a:path w="1908753" h="1620607">
                  <a:moveTo>
                    <a:pt x="461890" y="0"/>
                  </a:moveTo>
                  <a:cubicBezTo>
                    <a:pt x="1260970" y="0"/>
                    <a:pt x="1908753" y="647783"/>
                    <a:pt x="1908753" y="1446863"/>
                  </a:cubicBezTo>
                  <a:cubicBezTo>
                    <a:pt x="1908753" y="1496806"/>
                    <a:pt x="1906223" y="1546157"/>
                    <a:pt x="1901283" y="1594797"/>
                  </a:cubicBezTo>
                  <a:lnTo>
                    <a:pt x="1897344" y="1620607"/>
                  </a:lnTo>
                  <a:lnTo>
                    <a:pt x="0" y="1620607"/>
                  </a:lnTo>
                  <a:lnTo>
                    <a:pt x="0" y="76628"/>
                  </a:lnTo>
                  <a:lnTo>
                    <a:pt x="31637" y="65048"/>
                  </a:lnTo>
                  <a:cubicBezTo>
                    <a:pt x="167554" y="22774"/>
                    <a:pt x="312063" y="0"/>
                    <a:pt x="461890" y="0"/>
                  </a:cubicBezTo>
                  <a:close/>
                </a:path>
              </a:pathLst>
            </a:cu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6" name="Freeform 16"/>
            <p:cNvSpPr/>
            <p:nvPr/>
          </p:nvSpPr>
          <p:spPr>
            <a:xfrm>
              <a:off x="2455638" y="21101"/>
              <a:ext cx="9620020" cy="2281305"/>
            </a:xfrm>
            <a:custGeom>
              <a:avLst/>
              <a:gdLst/>
              <a:ahLst/>
              <a:cxnLst/>
              <a:rect l="l" t="t" r="r" b="b"/>
              <a:pathLst>
                <a:path w="9448800" h="2389192">
                  <a:moveTo>
                    <a:pt x="181398" y="0"/>
                  </a:moveTo>
                  <a:lnTo>
                    <a:pt x="9267402" y="0"/>
                  </a:lnTo>
                  <a:lnTo>
                    <a:pt x="9319805" y="108781"/>
                  </a:lnTo>
                  <a:cubicBezTo>
                    <a:pt x="9402868" y="305164"/>
                    <a:pt x="9448800" y="521077"/>
                    <a:pt x="9448800" y="747717"/>
                  </a:cubicBezTo>
                  <a:cubicBezTo>
                    <a:pt x="9448800" y="1654279"/>
                    <a:pt x="8713887" y="2389192"/>
                    <a:pt x="7807325" y="2389192"/>
                  </a:cubicBezTo>
                  <a:lnTo>
                    <a:pt x="1641475" y="2389192"/>
                  </a:lnTo>
                  <a:cubicBezTo>
                    <a:pt x="734913" y="2389192"/>
                    <a:pt x="0" y="1654279"/>
                    <a:pt x="0" y="747717"/>
                  </a:cubicBezTo>
                  <a:cubicBezTo>
                    <a:pt x="0" y="521077"/>
                    <a:pt x="45932" y="305164"/>
                    <a:pt x="128995" y="108781"/>
                  </a:cubicBezTo>
                  <a:close/>
                </a:path>
              </a:pathLst>
            </a:custGeom>
            <a:noFill/>
            <a:ln w="8890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cxnSp>
          <p:nvCxnSpPr>
            <p:cNvPr id="17" name="Connector 17"/>
            <p:cNvCxnSpPr/>
            <p:nvPr/>
          </p:nvCxnSpPr>
          <p:spPr>
            <a:xfrm>
              <a:off x="4182445" y="3509962"/>
              <a:ext cx="0" cy="1160310"/>
            </a:xfrm>
            <a:prstGeom prst="line">
              <a:avLst/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</p:cxnSp>
        <p:sp>
          <p:nvSpPr>
            <p:cNvPr id="18" name="AutoShape 18"/>
            <p:cNvSpPr/>
            <p:nvPr/>
          </p:nvSpPr>
          <p:spPr>
            <a:xfrm>
              <a:off x="60355" y="21102"/>
              <a:ext cx="2339966" cy="2339966"/>
            </a:xfrm>
            <a:prstGeom prst="ellipse">
              <a:avLst/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60354" y="21100"/>
              <a:ext cx="12118945" cy="6815798"/>
            </a:xfrm>
            <a:prstGeom prst="rect">
              <a:avLst/>
            </a:pr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20" name="Freeform 20"/>
            <p:cNvSpPr/>
            <p:nvPr/>
          </p:nvSpPr>
          <p:spPr>
            <a:xfrm>
              <a:off x="6813553" y="5979083"/>
              <a:ext cx="2366067" cy="857815"/>
            </a:xfrm>
            <a:custGeom>
              <a:avLst/>
              <a:gdLst/>
              <a:ahLst/>
              <a:cxnLst/>
              <a:rect l="l" t="t" r="r" b="b"/>
              <a:pathLst>
                <a:path w="2366067" h="857815">
                  <a:moveTo>
                    <a:pt x="1167442" y="0"/>
                  </a:moveTo>
                  <a:cubicBezTo>
                    <a:pt x="1692519" y="0"/>
                    <a:pt x="2143033" y="319244"/>
                    <a:pt x="2335472" y="774222"/>
                  </a:cubicBezTo>
                  <a:lnTo>
                    <a:pt x="2366067" y="857815"/>
                  </a:lnTo>
                  <a:lnTo>
                    <a:pt x="0" y="857815"/>
                  </a:lnTo>
                  <a:lnTo>
                    <a:pt x="0" y="773002"/>
                  </a:lnTo>
                  <a:lnTo>
                    <a:pt x="52793" y="663412"/>
                  </a:lnTo>
                  <a:cubicBezTo>
                    <a:pt x="267455" y="268254"/>
                    <a:pt x="686121" y="0"/>
                    <a:pt x="1167442" y="0"/>
                  </a:cubicBezTo>
                  <a:close/>
                </a:path>
              </a:pathLst>
            </a:cu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21" name="Freeform 21"/>
            <p:cNvSpPr/>
            <p:nvPr/>
          </p:nvSpPr>
          <p:spPr>
            <a:xfrm>
              <a:off x="10383019" y="2307301"/>
              <a:ext cx="1796280" cy="2362972"/>
            </a:xfrm>
            <a:custGeom>
              <a:avLst/>
              <a:gdLst/>
              <a:ahLst/>
              <a:cxnLst/>
              <a:rect l="l" t="t" r="r" b="b"/>
              <a:pathLst>
                <a:path w="1826586" h="2362972">
                  <a:moveTo>
                    <a:pt x="1181486" y="0"/>
                  </a:moveTo>
                  <a:cubicBezTo>
                    <a:pt x="1385398" y="0"/>
                    <a:pt x="1577244" y="51657"/>
                    <a:pt x="1744653" y="142599"/>
                  </a:cubicBezTo>
                  <a:lnTo>
                    <a:pt x="1826586" y="192375"/>
                  </a:lnTo>
                  <a:lnTo>
                    <a:pt x="1826586" y="2170598"/>
                  </a:lnTo>
                  <a:lnTo>
                    <a:pt x="1744653" y="2220373"/>
                  </a:lnTo>
                  <a:cubicBezTo>
                    <a:pt x="1577244" y="2311315"/>
                    <a:pt x="1385398" y="2362972"/>
                    <a:pt x="1181486" y="2362972"/>
                  </a:cubicBezTo>
                  <a:cubicBezTo>
                    <a:pt x="528969" y="2362972"/>
                    <a:pt x="0" y="1834003"/>
                    <a:pt x="0" y="1181486"/>
                  </a:cubicBezTo>
                  <a:cubicBezTo>
                    <a:pt x="0" y="528969"/>
                    <a:pt x="528969" y="0"/>
                    <a:pt x="1181486" y="0"/>
                  </a:cubicBezTo>
                  <a:close/>
                </a:path>
              </a:pathLst>
            </a:custGeom>
            <a:noFill/>
            <a:ln w="95250" cap="flat" cmpd="sng">
              <a:solidFill>
                <a:srgbClr val="0722AD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22" name="AutoShape 22"/>
          <p:cNvSpPr>
            <a:spLocks noGrp="1"/>
          </p:cNvSpPr>
          <p:nvPr>
            <p:ph type="body" sz="quarter" idx="13"/>
          </p:nvPr>
        </p:nvSpPr>
        <p:spPr>
          <a:xfrm>
            <a:off x="660400" y="1777424"/>
            <a:ext cx="10858500" cy="1643062"/>
          </a:xfrm>
        </p:spPr>
        <p:txBody>
          <a:bodyPr vert="horz" lIns="91440" tIns="45720" rIns="91440" bIns="45720" anchor="b">
            <a:normAutofit/>
          </a:bodyPr>
          <a:lstStyle/>
          <a:p>
            <a:pPr marL="228600" indent="-228600" algn="ctr">
              <a:lnSpc>
                <a:spcPct val="90000"/>
              </a:lnSpc>
              <a:spcBef>
                <a:spcPct val="0"/>
              </a:spcBef>
            </a:pPr>
            <a:r>
              <a:rPr lang="en-US" sz="4400" b="1" i="0" u="none" baseline="0">
                <a:solidFill>
                  <a:srgbClr val="FFFFFF"/>
                </a:solidFill>
                <a:latin typeface="Arial"/>
                <a:ea typeface="Arial"/>
              </a:rPr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EF4F046-704C-33C3-11C3-423A587E19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1635" y="125720"/>
            <a:ext cx="1219048" cy="52063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228600" indent="-228600" algn="l">
              <a:lnSpc>
                <a:spcPct val="9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text styles</a:t>
            </a:r>
          </a:p>
          <a:p>
            <a:pPr marL="685800" lvl="1" indent="-228600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3000" lvl="2" indent="-228600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200" lvl="3" indent="-228600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400" lvl="4" indent="-228600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ftr" sz="quarter" idx="3"/>
          </p:nvPr>
        </p:nvSpPr>
        <p:spPr>
          <a:xfrm>
            <a:off x="660401" y="6438900"/>
            <a:ext cx="3992171" cy="2159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dt" sz="half" idx="2"/>
          </p:nvPr>
        </p:nvSpPr>
        <p:spPr>
          <a:xfrm>
            <a:off x="5504656" y="6438900"/>
            <a:ext cx="1802924" cy="2159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zh-CN" alt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2024/8/1</a:t>
            </a:r>
          </a:p>
        </p:txBody>
      </p:sp>
      <p:sp>
        <p:nvSpPr>
          <p:cNvPr id="6" name="AutoShape 6"/>
          <p:cNvSpPr>
            <a:spLocks noGrp="1"/>
          </p:cNvSpPr>
          <p:nvPr>
            <p:ph type="sldNum" sz="quarter" idx="4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fld id="{3386411A-70EE-422D-B97C-F56BEE3FF077}" type="slidenum"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8" name="Picture 7" descr="A blue and black logo&#10;&#10;Description automatically generated">
            <a:extLst>
              <a:ext uri="{FF2B5EF4-FFF2-40B4-BE49-F238E27FC236}">
                <a16:creationId xmlns:a16="http://schemas.microsoft.com/office/drawing/2014/main" id="{84150709-F5F5-EEE1-49E7-0653347BD7DB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1474" y="131241"/>
            <a:ext cx="1219209" cy="5095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</p:sldLayoutIdLst>
  <p:hf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ctrTitle"/>
          </p:nvPr>
        </p:nvSpPr>
        <p:spPr>
          <a:xfrm>
            <a:off x="660400" y="2671870"/>
            <a:ext cx="10858500" cy="757130"/>
          </a:xfrm>
        </p:spPr>
        <p:txBody>
          <a:bodyPr vert="horz" lIns="91440" tIns="45720" rIns="91440" bIns="45720" anchor="b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altLang="zh-CN" sz="4800" b="1" i="0" u="none" baseline="0" dirty="0">
                <a:solidFill>
                  <a:srgbClr val="FFFFFF"/>
                </a:solidFill>
                <a:latin typeface="微软雅黑"/>
                <a:ea typeface="微软雅黑"/>
              </a:rPr>
              <a:t>Qardy </a:t>
            </a:r>
            <a:r>
              <a:rPr lang="en-US" altLang="zh-CN" sz="4800" b="1" dirty="0">
                <a:solidFill>
                  <a:srgbClr val="FFFFFF"/>
                </a:solidFill>
                <a:latin typeface="微软雅黑"/>
                <a:ea typeface="微软雅黑"/>
              </a:rPr>
              <a:t>– 2024 Achievements</a:t>
            </a:r>
            <a:endParaRPr lang="zh-CN" altLang="en-US" sz="4800" b="1" i="0" u="none" baseline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subTitle" idx="1"/>
          </p:nvPr>
        </p:nvSpPr>
        <p:spPr>
          <a:xfrm>
            <a:off x="4349945" y="3657600"/>
            <a:ext cx="3492110" cy="535853"/>
          </a:xfrm>
          <a:solidFill>
            <a:srgbClr val="FFFFFF"/>
          </a:solidFill>
        </p:spPr>
        <p:txBody>
          <a:bodyPr vert="horz" lIns="91440" tIns="45720" rIns="91440" bIns="4572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1800" b="0" i="0" u="none" baseline="0" dirty="0">
                <a:solidFill>
                  <a:schemeClr val="accent1"/>
                </a:solidFill>
                <a:latin typeface="微软雅黑"/>
                <a:ea typeface="微软雅黑"/>
              </a:rPr>
              <a:t>Abdelrahman Kamel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778250" y="1951182"/>
            <a:ext cx="6870700" cy="2768600"/>
          </a:xfrm>
          <a:prstGeom prst="roundRect">
            <a:avLst>
              <a:gd name="adj" fmla="val 8410"/>
            </a:avLst>
          </a:prstGeom>
          <a:solidFill>
            <a:srgbClr val="FFFFFF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1543050" y="2627044"/>
            <a:ext cx="1322532" cy="13225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en-US" sz="4800" b="1" i="0" u="none" baseline="0" dirty="0">
                <a:solidFill>
                  <a:schemeClr val="accen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title"/>
          </p:nvPr>
        </p:nvSpPr>
        <p:spPr>
          <a:xfrm>
            <a:off x="4265468" y="3048244"/>
            <a:ext cx="5731164" cy="480131"/>
          </a:xfrm>
        </p:spPr>
        <p:txBody>
          <a:bodyPr vert="horz" lIns="91440" tIns="45720" rIns="91440" bIns="45720" anchor="ctr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 dirty="0">
                <a:solidFill>
                  <a:schemeClr val="accent1"/>
                </a:solidFill>
                <a:latin typeface="OPPOSans-B-subset132"/>
                <a:ea typeface="OPPOSans-B-subset132"/>
              </a:rPr>
              <a:t>Product Releases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altLang="zh-CN" sz="2800" b="1" i="0" u="none" baseline="0" dirty="0">
                <a:solidFill>
                  <a:schemeClr val="accent1"/>
                </a:solidFill>
                <a:latin typeface="微软雅黑"/>
                <a:ea typeface="微软雅黑"/>
              </a:rPr>
              <a:t>User Portal </a:t>
            </a:r>
            <a:r>
              <a:rPr lang="zh-CN" altLang="en-US" sz="2800" b="1" i="0" u="none" baseline="0" dirty="0">
                <a:solidFill>
                  <a:schemeClr val="accent1"/>
                </a:solidFill>
                <a:latin typeface="微软雅黑"/>
                <a:ea typeface="微软雅黑"/>
              </a:rPr>
              <a:t>Release Versions by Quarter</a:t>
            </a:r>
          </a:p>
        </p:txBody>
      </p:sp>
      <p:sp>
        <p:nvSpPr>
          <p:cNvPr id="3" name="AutoShape 3"/>
          <p:cNvSpPr/>
          <p:nvPr/>
        </p:nvSpPr>
        <p:spPr>
          <a:xfrm>
            <a:off x="666750" y="1798457"/>
            <a:ext cx="2631379" cy="49911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333136" y="1511187"/>
            <a:ext cx="1298605" cy="429588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r>
              <a:rPr lang="en-GB" sz="2400" b="0" i="0" u="none" baseline="0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5" name="AutoShape 5"/>
          <p:cNvSpPr/>
          <p:nvPr/>
        </p:nvSpPr>
        <p:spPr>
          <a:xfrm>
            <a:off x="3409124" y="1798457"/>
            <a:ext cx="2631379" cy="49911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075510" y="1511187"/>
            <a:ext cx="1298605" cy="429588"/>
          </a:xfrm>
          <a:prstGeom prst="rect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r>
              <a:rPr lang="en-GB" sz="2400" b="0" i="0" u="none" baseline="0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7" name="AutoShape 7"/>
          <p:cNvSpPr/>
          <p:nvPr/>
        </p:nvSpPr>
        <p:spPr>
          <a:xfrm>
            <a:off x="6151498" y="1798457"/>
            <a:ext cx="2631379" cy="49911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817884" y="1511187"/>
            <a:ext cx="1298605" cy="429588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r>
              <a:rPr lang="en-GB" sz="2400" b="0" i="0" u="none" baseline="0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9" name="AutoShape 9"/>
          <p:cNvSpPr/>
          <p:nvPr/>
        </p:nvSpPr>
        <p:spPr>
          <a:xfrm>
            <a:off x="8893871" y="1798457"/>
            <a:ext cx="2631379" cy="49911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560257" y="1511187"/>
            <a:ext cx="1298605" cy="429588"/>
          </a:xfrm>
          <a:prstGeom prst="rect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r>
              <a:rPr lang="en-GB" sz="2400" b="0" i="0" u="none" baseline="0">
                <a:solidFill>
                  <a:schemeClr val="lt1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5293" y="2576276"/>
            <a:ext cx="2299569" cy="283282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1.0.0</a:t>
            </a:r>
            <a:r>
              <a:rPr lang="zh-CN" altLang="en-US" sz="120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This release includes our newest product of micro-financing, designed to give access to micro companies and individuals to get their loans in the fastest way possible through our Qardy platform along with minor updates in real-time notifications.</a:t>
            </a:r>
            <a:endParaRPr lang="en-US" sz="1100" dirty="0"/>
          </a:p>
        </p:txBody>
      </p:sp>
      <p:sp>
        <p:nvSpPr>
          <p:cNvPr id="12" name="TextBox 12"/>
          <p:cNvSpPr txBox="1"/>
          <p:nvPr/>
        </p:nvSpPr>
        <p:spPr>
          <a:xfrm>
            <a:off x="825294" y="2237722"/>
            <a:ext cx="229956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Q1 Releases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3575027" y="2574887"/>
            <a:ext cx="2299569" cy="20018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1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Microfinance Phase 2 improvements</a:t>
            </a:r>
          </a:p>
          <a:p>
            <a:pPr marL="0" algn="ctr">
              <a:lnSpc>
                <a:spcPct val="150000"/>
              </a:lnSpc>
              <a:defRPr/>
            </a:pP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
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2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E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nhancements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&amp; 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updates for Microfinance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&amp; Supply Chain Finance</a:t>
            </a:r>
            <a:endParaRPr lang="en-US" sz="1100" dirty="0"/>
          </a:p>
        </p:txBody>
      </p:sp>
      <p:sp>
        <p:nvSpPr>
          <p:cNvPr id="14" name="TextBox 14"/>
          <p:cNvSpPr txBox="1"/>
          <p:nvPr/>
        </p:nvSpPr>
        <p:spPr>
          <a:xfrm>
            <a:off x="3545965" y="2237722"/>
            <a:ext cx="229956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Q2 Releases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317401" y="2574887"/>
            <a:ext cx="2299569" cy="421468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3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Microfinance Phase 3, signup user activation process, &amp; minor supply chain finance updates.</a:t>
            </a:r>
          </a:p>
          <a:p>
            <a:pPr marL="0" algn="ctr">
              <a:lnSpc>
                <a:spcPct val="150000"/>
              </a:lnSpc>
              <a:defRPr/>
            </a:pP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
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4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Supply chain finance Notification Triggers &amp; a fix in invoice value validation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endParaRPr lang="en-US" altLang="zh-CN" sz="12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marL="0" algn="ctr">
              <a:lnSpc>
                <a:spcPct val="150000"/>
              </a:lnSpc>
              <a:defRPr/>
            </a:pPr>
            <a:endParaRPr lang="en-US" altLang="zh-CN" sz="12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5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dirty="0">
                <a:solidFill>
                  <a:srgbClr val="000000"/>
                </a:solidFill>
                <a:latin typeface="微软雅黑"/>
                <a:ea typeface="微软雅黑"/>
              </a:rPr>
              <a:t>Notification for returned apps.</a:t>
            </a:r>
          </a:p>
          <a:p>
            <a:pPr marL="0" algn="ctr">
              <a:lnSpc>
                <a:spcPct val="150000"/>
              </a:lnSpc>
              <a:defRPr/>
            </a:pPr>
            <a:endParaRPr lang="en-US" altLang="zh-CN" sz="120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6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dirty="0">
                <a:solidFill>
                  <a:srgbClr val="000000"/>
                </a:solidFill>
                <a:latin typeface="微软雅黑"/>
                <a:ea typeface="微软雅黑"/>
              </a:rPr>
              <a:t>SME Loan Cycle Update</a:t>
            </a:r>
            <a:endParaRPr lang="en-US" altLang="zh-CN" sz="12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306392" y="2240431"/>
            <a:ext cx="229956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Q3 Releases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9059774" y="2574193"/>
            <a:ext cx="2299569" cy="338368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7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SME &amp; Micro Apps Updates w/ Docs Previewer.</a:t>
            </a:r>
          </a:p>
          <a:p>
            <a:pPr marL="0" algn="ctr">
              <a:lnSpc>
                <a:spcPct val="150000"/>
              </a:lnSpc>
              <a:defRPr/>
            </a:pP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
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8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User Profile &amp; Documents Verification.</a:t>
            </a:r>
          </a:p>
          <a:p>
            <a:pPr marL="0" algn="ctr">
              <a:lnSpc>
                <a:spcPct val="150000"/>
              </a:lnSpc>
              <a:defRPr/>
            </a:pPr>
            <a:endParaRPr lang="en-US" altLang="zh-CN" sz="12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9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dirty="0">
                <a:solidFill>
                  <a:srgbClr val="000000"/>
                </a:solidFill>
                <a:latin typeface="微软雅黑"/>
                <a:ea typeface="微软雅黑"/>
              </a:rPr>
              <a:t>Invoice Payment Plan on User.</a:t>
            </a:r>
          </a:p>
          <a:p>
            <a:pPr marL="0" algn="ctr">
              <a:lnSpc>
                <a:spcPct val="150000"/>
              </a:lnSpc>
              <a:defRPr/>
            </a:pPr>
            <a:endParaRPr lang="en-US" altLang="zh-CN" sz="120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1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1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dirty="0">
                <a:solidFill>
                  <a:srgbClr val="000000"/>
                </a:solidFill>
                <a:latin typeface="微软雅黑"/>
                <a:ea typeface="微软雅黑"/>
              </a:rPr>
              <a:t>Export Feature for payment plans.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49089" y="2237722"/>
            <a:ext cx="229956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Q4 Releases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318E27-FAFE-5644-AB5A-1CB701C9C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3CCB9A9-ADDA-CFF8-8571-8FCAEC06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altLang="zh-CN" sz="2800" b="1" dirty="0">
                <a:solidFill>
                  <a:schemeClr val="accent1"/>
                </a:solidFill>
                <a:latin typeface="微软雅黑"/>
                <a:ea typeface="微软雅黑"/>
              </a:rPr>
              <a:t>Finance</a:t>
            </a:r>
            <a:r>
              <a:rPr lang="en-US" altLang="zh-CN" sz="2800" b="1" i="0" u="none" baseline="0" dirty="0">
                <a:solidFill>
                  <a:schemeClr val="accent1"/>
                </a:solidFill>
                <a:latin typeface="微软雅黑"/>
                <a:ea typeface="微软雅黑"/>
              </a:rPr>
              <a:t> Portal </a:t>
            </a:r>
            <a:r>
              <a:rPr lang="zh-CN" altLang="en-US" sz="2800" b="1" i="0" u="none" baseline="0" dirty="0">
                <a:solidFill>
                  <a:schemeClr val="accent1"/>
                </a:solidFill>
                <a:latin typeface="微软雅黑"/>
                <a:ea typeface="微软雅黑"/>
              </a:rPr>
              <a:t>Release Versions by Quarter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B330756-7221-6E63-3397-A91FCC812C35}"/>
              </a:ext>
            </a:extLst>
          </p:cNvPr>
          <p:cNvSpPr/>
          <p:nvPr/>
        </p:nvSpPr>
        <p:spPr>
          <a:xfrm>
            <a:off x="666750" y="1798457"/>
            <a:ext cx="2631379" cy="49911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65FFE5A-8942-BFF8-19F2-E17FDD79B6F0}"/>
              </a:ext>
            </a:extLst>
          </p:cNvPr>
          <p:cNvSpPr/>
          <p:nvPr/>
        </p:nvSpPr>
        <p:spPr>
          <a:xfrm>
            <a:off x="1333136" y="1511187"/>
            <a:ext cx="1298605" cy="429588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r>
              <a:rPr lang="en-GB" sz="2400" b="0" i="0" u="none" baseline="0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00C5DD84-C03C-54A1-33D2-30AC72DF7E88}"/>
              </a:ext>
            </a:extLst>
          </p:cNvPr>
          <p:cNvSpPr/>
          <p:nvPr/>
        </p:nvSpPr>
        <p:spPr>
          <a:xfrm>
            <a:off x="3409124" y="1798457"/>
            <a:ext cx="2631379" cy="49911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9B70E6D9-9580-BA78-9261-C5D4801DFFDD}"/>
              </a:ext>
            </a:extLst>
          </p:cNvPr>
          <p:cNvSpPr/>
          <p:nvPr/>
        </p:nvSpPr>
        <p:spPr>
          <a:xfrm>
            <a:off x="4075510" y="1511187"/>
            <a:ext cx="1298605" cy="429588"/>
          </a:xfrm>
          <a:prstGeom prst="rect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r>
              <a:rPr lang="en-GB" sz="2400" b="0" i="0" u="none" baseline="0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EBFEE018-149C-3178-FF99-538536AEBFDA}"/>
              </a:ext>
            </a:extLst>
          </p:cNvPr>
          <p:cNvSpPr/>
          <p:nvPr/>
        </p:nvSpPr>
        <p:spPr>
          <a:xfrm>
            <a:off x="6151498" y="1798457"/>
            <a:ext cx="2631379" cy="49911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F82744DA-EB01-5D34-74D4-480D8C0755D6}"/>
              </a:ext>
            </a:extLst>
          </p:cNvPr>
          <p:cNvSpPr/>
          <p:nvPr/>
        </p:nvSpPr>
        <p:spPr>
          <a:xfrm>
            <a:off x="6817884" y="1511187"/>
            <a:ext cx="1298605" cy="429588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r>
              <a:rPr lang="en-GB" sz="2400" b="0" i="0" u="none" baseline="0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9EE1AE00-9440-0E4E-58A3-F5F0B3E24895}"/>
              </a:ext>
            </a:extLst>
          </p:cNvPr>
          <p:cNvSpPr/>
          <p:nvPr/>
        </p:nvSpPr>
        <p:spPr>
          <a:xfrm>
            <a:off x="8893871" y="1798457"/>
            <a:ext cx="2631379" cy="49911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E0B84778-B32C-7C75-D7BB-5F0029A868BA}"/>
              </a:ext>
            </a:extLst>
          </p:cNvPr>
          <p:cNvSpPr/>
          <p:nvPr/>
        </p:nvSpPr>
        <p:spPr>
          <a:xfrm>
            <a:off x="9560257" y="1511187"/>
            <a:ext cx="1298605" cy="429588"/>
          </a:xfrm>
          <a:prstGeom prst="rect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r>
              <a:rPr lang="en-GB" sz="2400" b="0" i="0" u="none" baseline="0">
                <a:solidFill>
                  <a:schemeClr val="lt1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01AEF93-4C34-EE79-6833-CC499A18CC9F}"/>
              </a:ext>
            </a:extLst>
          </p:cNvPr>
          <p:cNvSpPr txBox="1"/>
          <p:nvPr/>
        </p:nvSpPr>
        <p:spPr>
          <a:xfrm>
            <a:off x="825293" y="2576276"/>
            <a:ext cx="2299569" cy="89383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1.0.0</a:t>
            </a:r>
            <a:r>
              <a:rPr lang="zh-CN" altLang="en-US" sz="120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Adding microfinance product on finance portal</a:t>
            </a:r>
            <a:endParaRPr lang="en-US" sz="1100"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E557757-3B89-50B5-D644-842AE1171BE7}"/>
              </a:ext>
            </a:extLst>
          </p:cNvPr>
          <p:cNvSpPr txBox="1"/>
          <p:nvPr/>
        </p:nvSpPr>
        <p:spPr>
          <a:xfrm>
            <a:off x="825294" y="2237722"/>
            <a:ext cx="229956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Q1 Releases</a:t>
            </a:r>
            <a:endParaRPr lang="en-US" sz="11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11FE3CB-1E68-4290-E189-5C26E5994194}"/>
              </a:ext>
            </a:extLst>
          </p:cNvPr>
          <p:cNvSpPr txBox="1"/>
          <p:nvPr/>
        </p:nvSpPr>
        <p:spPr>
          <a:xfrm>
            <a:off x="3575027" y="2574887"/>
            <a:ext cx="2299569" cy="89069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1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Bank Portal Revamp (Phase 1) &amp; UI improvements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A440F70-14D9-05B9-769F-431AA7707AB6}"/>
              </a:ext>
            </a:extLst>
          </p:cNvPr>
          <p:cNvSpPr txBox="1"/>
          <p:nvPr/>
        </p:nvSpPr>
        <p:spPr>
          <a:xfrm>
            <a:off x="3545965" y="2237722"/>
            <a:ext cx="229956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Q2 Releases</a:t>
            </a:r>
            <a:endParaRPr lang="en-US" sz="110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B128D59-D766-9A06-EF41-5547CECEB691}"/>
              </a:ext>
            </a:extLst>
          </p:cNvPr>
          <p:cNvSpPr txBox="1"/>
          <p:nvPr/>
        </p:nvSpPr>
        <p:spPr>
          <a:xfrm>
            <a:off x="6317401" y="2574887"/>
            <a:ext cx="2299569" cy="366068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2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dirty="0">
                <a:solidFill>
                  <a:srgbClr val="000000"/>
                </a:solidFill>
                <a:latin typeface="微软雅黑"/>
                <a:ea typeface="微软雅黑"/>
              </a:rPr>
              <a:t>Supply Chain Finance updates &amp; Loan Apps extra features</a:t>
            </a:r>
          </a:p>
          <a:p>
            <a:pPr marL="0" algn="ctr">
              <a:lnSpc>
                <a:spcPct val="150000"/>
              </a:lnSpc>
              <a:defRPr/>
            </a:pPr>
            <a:endParaRPr lang="en-US" altLang="zh-CN" sz="1200" b="1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3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Dismiss reason flow &amp; bug fixes.</a:t>
            </a:r>
          </a:p>
          <a:p>
            <a:pPr marL="0" algn="ctr">
              <a:lnSpc>
                <a:spcPct val="150000"/>
              </a:lnSpc>
              <a:defRPr/>
            </a:pP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
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4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Return App Notification &amp; Searching in Arabic.</a:t>
            </a:r>
          </a:p>
          <a:p>
            <a:pPr marL="0" algn="ctr">
              <a:lnSpc>
                <a:spcPct val="150000"/>
              </a:lnSpc>
              <a:defRPr/>
            </a:pPr>
            <a:endParaRPr lang="en-US" altLang="zh-CN" sz="12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5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dirty="0">
                <a:solidFill>
                  <a:srgbClr val="000000"/>
                </a:solidFill>
                <a:latin typeface="微软雅黑"/>
                <a:ea typeface="微软雅黑"/>
              </a:rPr>
              <a:t>SME loan cycle updates &amp; bug fixes</a:t>
            </a:r>
            <a:endParaRPr lang="en-US" altLang="zh-CN" sz="12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6F65287-2C31-401D-0D77-5E29AEB1C13D}"/>
              </a:ext>
            </a:extLst>
          </p:cNvPr>
          <p:cNvSpPr txBox="1"/>
          <p:nvPr/>
        </p:nvSpPr>
        <p:spPr>
          <a:xfrm>
            <a:off x="6306392" y="2240431"/>
            <a:ext cx="229956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Q3 Releases</a:t>
            </a:r>
            <a:endParaRPr lang="en-US" sz="1100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860C622-D980-650E-8282-7E9A2C8D1709}"/>
              </a:ext>
            </a:extLst>
          </p:cNvPr>
          <p:cNvSpPr txBox="1"/>
          <p:nvPr/>
        </p:nvSpPr>
        <p:spPr>
          <a:xfrm>
            <a:off x="9059774" y="2574193"/>
            <a:ext cx="2299569" cy="421468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6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dirty="0">
                <a:solidFill>
                  <a:srgbClr val="000000"/>
                </a:solidFill>
                <a:latin typeface="微软雅黑"/>
                <a:ea typeface="微软雅黑"/>
              </a:rPr>
              <a:t>Bank Roles &amp; Permissions &amp; new FI Dashboard</a:t>
            </a:r>
            <a:endParaRPr lang="en-US" altLang="zh-CN" sz="1200" b="1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7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SME &amp; Micro Apps Updates w/ Docs Previewer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
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8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FI Notes on Finance.</a:t>
            </a:r>
          </a:p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9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dirty="0">
                <a:solidFill>
                  <a:srgbClr val="000000"/>
                </a:solidFill>
                <a:latin typeface="微软雅黑"/>
                <a:ea typeface="微软雅黑"/>
              </a:rPr>
              <a:t>Invoice Payment Plan on FI &amp; Dashboard updates.</a:t>
            </a:r>
          </a:p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1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1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dirty="0">
                <a:solidFill>
                  <a:srgbClr val="000000"/>
                </a:solidFill>
                <a:latin typeface="微软雅黑"/>
                <a:ea typeface="微软雅黑"/>
              </a:rPr>
              <a:t>Export Feature for payment plans.</a:t>
            </a:r>
          </a:p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1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2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dirty="0">
                <a:solidFill>
                  <a:srgbClr val="000000"/>
                </a:solidFill>
                <a:latin typeface="微软雅黑"/>
                <a:ea typeface="微软雅黑"/>
              </a:rPr>
              <a:t>Rejection Reasons</a:t>
            </a:r>
            <a:endParaRPr lang="en-US" altLang="zh-CN" sz="12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ECA59CD-E00D-80B8-09C8-3229799EDC81}"/>
              </a:ext>
            </a:extLst>
          </p:cNvPr>
          <p:cNvSpPr txBox="1"/>
          <p:nvPr/>
        </p:nvSpPr>
        <p:spPr>
          <a:xfrm>
            <a:off x="9049089" y="2237722"/>
            <a:ext cx="229956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Q4 Releases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335021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8EC06D-A2EB-E965-2DE4-3FB72D41B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73FA328-3481-3D52-1B7E-0546E5CB7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altLang="zh-CN" sz="2800" b="1" dirty="0">
                <a:solidFill>
                  <a:schemeClr val="accent1"/>
                </a:solidFill>
                <a:latin typeface="微软雅黑"/>
                <a:ea typeface="微软雅黑"/>
              </a:rPr>
              <a:t>Admin</a:t>
            </a:r>
            <a:r>
              <a:rPr lang="en-US" altLang="zh-CN" sz="2800" b="1" i="0" u="none" baseline="0" dirty="0">
                <a:solidFill>
                  <a:schemeClr val="accent1"/>
                </a:solidFill>
                <a:latin typeface="微软雅黑"/>
                <a:ea typeface="微软雅黑"/>
              </a:rPr>
              <a:t> Portal </a:t>
            </a:r>
            <a:r>
              <a:rPr lang="zh-CN" altLang="en-US" sz="2800" b="1" i="0" u="none" baseline="0" dirty="0">
                <a:solidFill>
                  <a:schemeClr val="accent1"/>
                </a:solidFill>
                <a:latin typeface="微软雅黑"/>
                <a:ea typeface="微软雅黑"/>
              </a:rPr>
              <a:t>Release Versions by Quarter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C94C684-CE0D-BF98-21EB-AA2641FA6D77}"/>
              </a:ext>
            </a:extLst>
          </p:cNvPr>
          <p:cNvSpPr/>
          <p:nvPr/>
        </p:nvSpPr>
        <p:spPr>
          <a:xfrm>
            <a:off x="666750" y="1798457"/>
            <a:ext cx="2631379" cy="49911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DAE06FC-EE5D-4673-3404-F8C4ECE7B083}"/>
              </a:ext>
            </a:extLst>
          </p:cNvPr>
          <p:cNvSpPr/>
          <p:nvPr/>
        </p:nvSpPr>
        <p:spPr>
          <a:xfrm>
            <a:off x="1333136" y="1511187"/>
            <a:ext cx="1298605" cy="429588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r>
              <a:rPr lang="en-GB" sz="2400" b="0" i="0" u="none" baseline="0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06C31108-CC2D-3F01-5D70-37C2CB029887}"/>
              </a:ext>
            </a:extLst>
          </p:cNvPr>
          <p:cNvSpPr/>
          <p:nvPr/>
        </p:nvSpPr>
        <p:spPr>
          <a:xfrm>
            <a:off x="3409124" y="1798457"/>
            <a:ext cx="2631379" cy="49911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F51ED79E-5A31-3CB2-F975-1DFDFD15694C}"/>
              </a:ext>
            </a:extLst>
          </p:cNvPr>
          <p:cNvSpPr/>
          <p:nvPr/>
        </p:nvSpPr>
        <p:spPr>
          <a:xfrm>
            <a:off x="4075510" y="1511187"/>
            <a:ext cx="1298605" cy="429588"/>
          </a:xfrm>
          <a:prstGeom prst="rect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r>
              <a:rPr lang="en-GB" sz="2400" b="0" i="0" u="none" baseline="0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F028E6D1-9FA1-BF5A-1222-1DC18B081CF0}"/>
              </a:ext>
            </a:extLst>
          </p:cNvPr>
          <p:cNvSpPr/>
          <p:nvPr/>
        </p:nvSpPr>
        <p:spPr>
          <a:xfrm>
            <a:off x="6151498" y="1798457"/>
            <a:ext cx="2631379" cy="49911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5A9B8274-7E16-6AB9-956A-9C5568F541D2}"/>
              </a:ext>
            </a:extLst>
          </p:cNvPr>
          <p:cNvSpPr/>
          <p:nvPr/>
        </p:nvSpPr>
        <p:spPr>
          <a:xfrm>
            <a:off x="6817884" y="1511187"/>
            <a:ext cx="1298605" cy="429588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r>
              <a:rPr lang="en-GB" sz="2400" b="0" i="0" u="none" baseline="0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D8FA6203-A8A1-4D3D-A8F2-B540AFDE50CF}"/>
              </a:ext>
            </a:extLst>
          </p:cNvPr>
          <p:cNvSpPr/>
          <p:nvPr/>
        </p:nvSpPr>
        <p:spPr>
          <a:xfrm>
            <a:off x="8893871" y="1798457"/>
            <a:ext cx="2631379" cy="49911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21A4BEE2-38D1-2559-F0C9-F6BFB576A8A8}"/>
              </a:ext>
            </a:extLst>
          </p:cNvPr>
          <p:cNvSpPr/>
          <p:nvPr/>
        </p:nvSpPr>
        <p:spPr>
          <a:xfrm>
            <a:off x="9560257" y="1511187"/>
            <a:ext cx="1298605" cy="429588"/>
          </a:xfrm>
          <a:prstGeom prst="rect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r>
              <a:rPr lang="en-GB" sz="2400" b="0" i="0" u="none" baseline="0">
                <a:solidFill>
                  <a:schemeClr val="lt1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F54DA4E-F238-FB55-273B-4FFEE5E29BF8}"/>
              </a:ext>
            </a:extLst>
          </p:cNvPr>
          <p:cNvSpPr txBox="1"/>
          <p:nvPr/>
        </p:nvSpPr>
        <p:spPr>
          <a:xfrm>
            <a:off x="825293" y="2576276"/>
            <a:ext cx="2299569" cy="14478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1.0.0</a:t>
            </a:r>
            <a:r>
              <a:rPr lang="zh-CN" altLang="en-US" sz="120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Adding microfinance product on admin portal &amp; loan applications cycle improvements</a:t>
            </a:r>
            <a:endParaRPr lang="en-US" sz="1100"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869E111-ED63-DA6C-8CE5-32020E94A7DF}"/>
              </a:ext>
            </a:extLst>
          </p:cNvPr>
          <p:cNvSpPr txBox="1"/>
          <p:nvPr/>
        </p:nvSpPr>
        <p:spPr>
          <a:xfrm>
            <a:off x="825294" y="2237722"/>
            <a:ext cx="229956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Q1 Releases</a:t>
            </a:r>
            <a:endParaRPr lang="en-US" sz="11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3CC2DC6-8A78-82E8-7F6D-E04C036CA601}"/>
              </a:ext>
            </a:extLst>
          </p:cNvPr>
          <p:cNvSpPr txBox="1"/>
          <p:nvPr/>
        </p:nvSpPr>
        <p:spPr>
          <a:xfrm>
            <a:off x="3575027" y="2574887"/>
            <a:ext cx="2299569" cy="89069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1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Admin updates and improvements for loan apps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CDFBA82-0343-DC1F-B48D-4A34CBF2B3BC}"/>
              </a:ext>
            </a:extLst>
          </p:cNvPr>
          <p:cNvSpPr txBox="1"/>
          <p:nvPr/>
        </p:nvSpPr>
        <p:spPr>
          <a:xfrm>
            <a:off x="3545965" y="2237722"/>
            <a:ext cx="229956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Q2 Releases</a:t>
            </a:r>
            <a:endParaRPr lang="en-US" sz="110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F8BAD95-318E-E45E-82D0-438A804A0F88}"/>
              </a:ext>
            </a:extLst>
          </p:cNvPr>
          <p:cNvSpPr txBox="1"/>
          <p:nvPr/>
        </p:nvSpPr>
        <p:spPr>
          <a:xfrm>
            <a:off x="6317401" y="2574887"/>
            <a:ext cx="2299569" cy="338368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2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dirty="0">
                <a:solidFill>
                  <a:srgbClr val="000000"/>
                </a:solidFill>
                <a:latin typeface="微软雅黑"/>
                <a:ea typeface="微软雅黑"/>
              </a:rPr>
              <a:t>New Filters &amp; General improvements</a:t>
            </a:r>
          </a:p>
          <a:p>
            <a:pPr marL="0" algn="ctr">
              <a:lnSpc>
                <a:spcPct val="150000"/>
              </a:lnSpc>
              <a:defRPr/>
            </a:pPr>
            <a:endParaRPr lang="en-US" altLang="zh-CN" sz="1200" b="1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3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Dismiss reason flow &amp; bug fixes.</a:t>
            </a:r>
          </a:p>
          <a:p>
            <a:pPr marL="0" algn="ctr">
              <a:lnSpc>
                <a:spcPct val="150000"/>
              </a:lnSpc>
              <a:defRPr/>
            </a:pP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
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4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Returned Apps Cycle &amp; Other improvements.</a:t>
            </a:r>
          </a:p>
          <a:p>
            <a:pPr marL="0" algn="ctr">
              <a:lnSpc>
                <a:spcPct val="150000"/>
              </a:lnSpc>
              <a:defRPr/>
            </a:pPr>
            <a:endParaRPr lang="en-US" altLang="zh-CN" sz="12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5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dirty="0">
                <a:solidFill>
                  <a:srgbClr val="000000"/>
                </a:solidFill>
                <a:latin typeface="微软雅黑"/>
                <a:ea typeface="微软雅黑"/>
              </a:rPr>
              <a:t>SME loan cycle updates &amp; bug fixes</a:t>
            </a:r>
            <a:endParaRPr lang="en-US" altLang="zh-CN" sz="12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34EECD6-A3B3-3439-C78E-78961FFDEF42}"/>
              </a:ext>
            </a:extLst>
          </p:cNvPr>
          <p:cNvSpPr txBox="1"/>
          <p:nvPr/>
        </p:nvSpPr>
        <p:spPr>
          <a:xfrm>
            <a:off x="6306392" y="2240431"/>
            <a:ext cx="229956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Q3 Releases</a:t>
            </a:r>
            <a:endParaRPr lang="en-US" sz="1100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90E1D67-AEA3-B67B-A804-CDD48209D527}"/>
              </a:ext>
            </a:extLst>
          </p:cNvPr>
          <p:cNvSpPr txBox="1"/>
          <p:nvPr/>
        </p:nvSpPr>
        <p:spPr>
          <a:xfrm>
            <a:off x="9059774" y="2574193"/>
            <a:ext cx="2299569" cy="366068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6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dirty="0">
                <a:solidFill>
                  <a:srgbClr val="000000"/>
                </a:solidFill>
                <a:latin typeface="微软雅黑"/>
                <a:ea typeface="微软雅黑"/>
              </a:rPr>
              <a:t>Bank Roles &amp; Permissions on Admin</a:t>
            </a:r>
            <a:endParaRPr lang="en-US" altLang="zh-CN" sz="1200" b="1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7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SME &amp; Micro Apps Updates w/ Docs Previewer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
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8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FI Notes on Admin.</a:t>
            </a:r>
          </a:p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0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9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dirty="0">
                <a:solidFill>
                  <a:srgbClr val="000000"/>
                </a:solidFill>
                <a:latin typeface="微软雅黑"/>
                <a:ea typeface="微软雅黑"/>
              </a:rPr>
              <a:t>Invoice Payment Plan on Admin.</a:t>
            </a:r>
          </a:p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1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1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dirty="0">
                <a:solidFill>
                  <a:srgbClr val="000000"/>
                </a:solidFill>
                <a:latin typeface="微软雅黑"/>
                <a:ea typeface="微软雅黑"/>
              </a:rPr>
              <a:t>Export Feature for payment plans.</a:t>
            </a:r>
          </a:p>
          <a:p>
            <a:pPr marL="0" algn="ctr">
              <a:lnSpc>
                <a:spcPct val="150000"/>
              </a:lnSpc>
              <a:defRPr/>
            </a:pP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Version 1.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1</a:t>
            </a:r>
            <a:r>
              <a:rPr lang="zh-CN" altLang="en-US" sz="12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</a:rPr>
              <a:t>2</a:t>
            </a:r>
            <a:r>
              <a:rPr lang="zh-CN" altLang="en-US" sz="12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 </a:t>
            </a:r>
            <a:r>
              <a:rPr lang="en-US" altLang="zh-CN" sz="1200" dirty="0">
                <a:solidFill>
                  <a:srgbClr val="000000"/>
                </a:solidFill>
                <a:latin typeface="微软雅黑"/>
                <a:ea typeface="微软雅黑"/>
              </a:rPr>
              <a:t>Rejection Reasons</a:t>
            </a:r>
            <a:endParaRPr lang="en-US" altLang="zh-CN" sz="12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EEF4155-F4EF-E20A-CBE2-B5201863D3DE}"/>
              </a:ext>
            </a:extLst>
          </p:cNvPr>
          <p:cNvSpPr txBox="1"/>
          <p:nvPr/>
        </p:nvSpPr>
        <p:spPr>
          <a:xfrm>
            <a:off x="9049089" y="2237722"/>
            <a:ext cx="229956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Q4 Releases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198332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778250" y="1951182"/>
            <a:ext cx="6870700" cy="2768600"/>
          </a:xfrm>
          <a:prstGeom prst="roundRect">
            <a:avLst>
              <a:gd name="adj" fmla="val 8410"/>
            </a:avLst>
          </a:prstGeom>
          <a:solidFill>
            <a:srgbClr val="FFFFFF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543050" y="2627044"/>
            <a:ext cx="1322532" cy="13225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en-US" sz="4800" b="1" i="0" u="none" baseline="0" dirty="0">
                <a:solidFill>
                  <a:schemeClr val="accen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4" name="AutoShape 4"/>
          <p:cNvSpPr>
            <a:spLocks noGrp="1"/>
          </p:cNvSpPr>
          <p:nvPr>
            <p:ph type="title"/>
          </p:nvPr>
        </p:nvSpPr>
        <p:spPr>
          <a:xfrm>
            <a:off x="4265468" y="3048244"/>
            <a:ext cx="5731164" cy="480131"/>
          </a:xfrm>
        </p:spPr>
        <p:txBody>
          <a:bodyPr vert="horz" lIns="91440" tIns="45720" rIns="91440" bIns="45720" anchor="ctr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 dirty="0">
                <a:solidFill>
                  <a:schemeClr val="accent1"/>
                </a:solidFill>
                <a:latin typeface="OPPOSans-B-subset132"/>
                <a:ea typeface="OPPOSans-B-subset132"/>
              </a:rPr>
              <a:t>New Main Products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chemeClr val="accent1"/>
                </a:solidFill>
                <a:latin typeface="微软雅黑"/>
                <a:ea typeface="微软雅黑"/>
              </a:rPr>
              <a:t>Supply Chain Finance</a:t>
            </a:r>
          </a:p>
        </p:txBody>
      </p:sp>
      <p:sp>
        <p:nvSpPr>
          <p:cNvPr id="3" name="AutoShape 3"/>
          <p:cNvSpPr/>
          <p:nvPr/>
        </p:nvSpPr>
        <p:spPr>
          <a:xfrm>
            <a:off x="660399" y="2001686"/>
            <a:ext cx="3377074" cy="42797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90000" rIns="91440" bIns="90000" anchor="t">
            <a:spAutoFit/>
          </a:bodyPr>
          <a:lstStyle/>
          <a:p>
            <a:pPr marL="0" algn="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Product Overview</a:t>
            </a:r>
          </a:p>
        </p:txBody>
      </p:sp>
      <p:sp>
        <p:nvSpPr>
          <p:cNvPr id="4" name="AutoShape 4"/>
          <p:cNvSpPr/>
          <p:nvPr/>
        </p:nvSpPr>
        <p:spPr>
          <a:xfrm>
            <a:off x="660399" y="2429665"/>
            <a:ext cx="3377074" cy="179546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r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>
                    <a:alpha val="60000"/>
                  </a:srgbClr>
                </a:solidFill>
                <a:latin typeface="微软雅黑"/>
                <a:ea typeface="微软雅黑"/>
              </a:rPr>
              <a:t>Supply Chain Finance is designed to streamline financial operations within supply chains, offering real-time tracking and automated payment solutions.</a:t>
            </a:r>
          </a:p>
        </p:txBody>
      </p:sp>
      <p:cxnSp>
        <p:nvCxnSpPr>
          <p:cNvPr id="5" name="Connector 5"/>
          <p:cNvCxnSpPr/>
          <p:nvPr/>
        </p:nvCxnSpPr>
        <p:spPr>
          <a:xfrm flipH="1">
            <a:off x="4297853" y="2201888"/>
            <a:ext cx="1426023" cy="0"/>
          </a:xfrm>
          <a:prstGeom prst="line">
            <a:avLst/>
          </a:prstGeom>
          <a:ln w="19050" cap="flat" cmpd="sng">
            <a:gradFill>
              <a:gsLst>
                <a:gs pos="0">
                  <a:srgbClr val="778495">
                    <a:alpha val="0"/>
                  </a:srgbClr>
                </a:gs>
                <a:gs pos="100000">
                  <a:srgbClr val="778495"/>
                </a:gs>
              </a:gsLst>
              <a:lin ang="2700000"/>
            </a:gradFill>
            <a:prstDash val="solid"/>
            <a:tailEnd type="oval"/>
          </a:ln>
        </p:spPr>
      </p:cxnSp>
      <p:sp>
        <p:nvSpPr>
          <p:cNvPr id="6" name="AutoShape 6"/>
          <p:cNvSpPr/>
          <p:nvPr/>
        </p:nvSpPr>
        <p:spPr>
          <a:xfrm>
            <a:off x="8391722" y="3610314"/>
            <a:ext cx="3127177" cy="42797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90000" rIns="91440" bIns="90000" anchor="t">
            <a:spAutoFit/>
          </a:bodyPr>
          <a:lstStyle/>
          <a:p>
            <a:pPr marL="0" algn="l"/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Market Impact</a:t>
            </a:r>
          </a:p>
        </p:txBody>
      </p:sp>
      <p:sp>
        <p:nvSpPr>
          <p:cNvPr id="7" name="AutoShape 7"/>
          <p:cNvSpPr/>
          <p:nvPr/>
        </p:nvSpPr>
        <p:spPr>
          <a:xfrm>
            <a:off x="8391722" y="4038293"/>
            <a:ext cx="3127177" cy="147268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>
                    <a:alpha val="60000"/>
                  </a:srgbClr>
                </a:solidFill>
                <a:latin typeface="微软雅黑"/>
                <a:ea typeface="微软雅黑"/>
              </a:rPr>
              <a:t>The product has significantly </a:t>
            </a:r>
            <a:r>
              <a:rPr lang="en-US" altLang="zh-CN" sz="1400" b="0" i="0" u="none" baseline="0" dirty="0">
                <a:solidFill>
                  <a:srgbClr val="000000">
                    <a:alpha val="60000"/>
                  </a:srgbClr>
                </a:solidFill>
                <a:latin typeface="微软雅黑"/>
                <a:ea typeface="微软雅黑"/>
              </a:rPr>
              <a:t>played a pivotal role in the digital transformation of supply chain financing.</a:t>
            </a:r>
            <a:endParaRPr lang="zh-CN" altLang="en-US" sz="1400" b="0" i="0" u="none" baseline="0" dirty="0">
              <a:solidFill>
                <a:srgbClr val="000000">
                  <a:alpha val="60000"/>
                </a:srgbClr>
              </a:solidFill>
              <a:latin typeface="微软雅黑"/>
              <a:ea typeface="微软雅黑"/>
            </a:endParaRPr>
          </a:p>
        </p:txBody>
      </p:sp>
      <p:cxnSp>
        <p:nvCxnSpPr>
          <p:cNvPr id="8" name="Connector 8"/>
          <p:cNvCxnSpPr/>
          <p:nvPr/>
        </p:nvCxnSpPr>
        <p:spPr>
          <a:xfrm>
            <a:off x="6789407" y="3824304"/>
            <a:ext cx="1426023" cy="0"/>
          </a:xfrm>
          <a:prstGeom prst="line">
            <a:avLst/>
          </a:prstGeom>
          <a:ln w="19050" cap="flat" cmpd="sng">
            <a:gradFill>
              <a:gsLst>
                <a:gs pos="0">
                  <a:srgbClr val="778495">
                    <a:alpha val="0"/>
                  </a:srgbClr>
                </a:gs>
                <a:gs pos="100000">
                  <a:srgbClr val="778495"/>
                </a:gs>
              </a:gsLst>
              <a:lin ang="2700000"/>
            </a:gradFill>
            <a:prstDash val="solid"/>
            <a:tailEnd type="oval"/>
          </a:ln>
        </p:spPr>
      </p:cxnSp>
      <p:grpSp>
        <p:nvGrpSpPr>
          <p:cNvPr id="10" name="Group 10"/>
          <p:cNvGrpSpPr/>
          <p:nvPr/>
        </p:nvGrpSpPr>
        <p:grpSpPr>
          <a:xfrm>
            <a:off x="5511704" y="1506372"/>
            <a:ext cx="1480320" cy="1301750"/>
            <a:chOff x="5586768" y="1651000"/>
            <a:chExt cx="1480320" cy="1301750"/>
          </a:xfrm>
        </p:grpSpPr>
        <p:sp>
          <p:nvSpPr>
            <p:cNvPr id="11" name="Freeform 11"/>
            <p:cNvSpPr/>
            <p:nvPr/>
          </p:nvSpPr>
          <p:spPr>
            <a:xfrm>
              <a:off x="5586768" y="1651000"/>
              <a:ext cx="1480320" cy="1301750"/>
            </a:xfrm>
            <a:custGeom>
              <a:avLst/>
              <a:gdLst/>
              <a:ahLst/>
              <a:cxnLst/>
              <a:rect l="l" t="t" r="r" b="b"/>
              <a:pathLst>
                <a:path w="1480320" h="1301750">
                  <a:moveTo>
                    <a:pt x="742815" y="0"/>
                  </a:moveTo>
                  <a:lnTo>
                    <a:pt x="744874" y="0"/>
                  </a:lnTo>
                  <a:lnTo>
                    <a:pt x="1480320" y="786943"/>
                  </a:lnTo>
                  <a:lnTo>
                    <a:pt x="1141531" y="786943"/>
                  </a:lnTo>
                  <a:cubicBezTo>
                    <a:pt x="1141531" y="786943"/>
                    <a:pt x="1107729" y="963157"/>
                    <a:pt x="1119490" y="1285240"/>
                  </a:cubicBezTo>
                  <a:lnTo>
                    <a:pt x="1120522" y="1301750"/>
                  </a:lnTo>
                  <a:lnTo>
                    <a:pt x="359642" y="1301750"/>
                  </a:lnTo>
                  <a:lnTo>
                    <a:pt x="361413" y="1227292"/>
                  </a:lnTo>
                  <a:cubicBezTo>
                    <a:pt x="361217" y="1090654"/>
                    <a:pt x="353988" y="953480"/>
                    <a:pt x="338790" y="816305"/>
                  </a:cubicBezTo>
                  <a:lnTo>
                    <a:pt x="0" y="816305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cap="flat">
              <a:prstDash val="solid"/>
            </a:ln>
          </p:spPr>
          <p:txBody>
            <a:bodyPr vert="horz" wrap="square" lIns="91440" tIns="45720" rIns="91440" bIns="45720" anchor="ctr"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6053847" y="2196708"/>
              <a:ext cx="556986" cy="551090"/>
            </a:xfrm>
            <a:prstGeom prst="rect">
              <a:avLst/>
            </a:prstGeom>
            <a:noFill/>
            <a:ln cap="flat" cmpd="sng">
              <a:prstDash val="solid"/>
            </a:ln>
          </p:spPr>
          <p:txBody>
            <a:bodyPr vert="horz" wrap="square" lIns="91440" tIns="90000" rIns="91440" bIns="90000" anchor="b">
              <a:spAutoFit/>
            </a:bodyPr>
            <a:lstStyle/>
            <a:p>
              <a:pPr marL="0" algn="ctr"/>
              <a:r>
                <a:rPr lang="en-US" sz="2400" b="1" i="0" u="none" baseline="0">
                  <a:solidFill>
                    <a:schemeClr val="lt1"/>
                  </a:solidFill>
                  <a:latin typeface="Arial"/>
                  <a:ea typeface="Arial"/>
                </a:rPr>
                <a:t>01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658226" y="2808122"/>
            <a:ext cx="1208676" cy="1301750"/>
            <a:chOff x="5733290" y="2952750"/>
            <a:chExt cx="1208676" cy="1301750"/>
          </a:xfrm>
        </p:grpSpPr>
        <p:sp>
          <p:nvSpPr>
            <p:cNvPr id="14" name="Freeform 14"/>
            <p:cNvSpPr/>
            <p:nvPr/>
          </p:nvSpPr>
          <p:spPr>
            <a:xfrm>
              <a:off x="5733290" y="2952750"/>
              <a:ext cx="1208676" cy="1301750"/>
            </a:xfrm>
            <a:custGeom>
              <a:avLst/>
              <a:gdLst/>
              <a:ahLst/>
              <a:cxnLst/>
              <a:rect l="l" t="t" r="r" b="b"/>
              <a:pathLst>
                <a:path w="1208676" h="1301750">
                  <a:moveTo>
                    <a:pt x="213120" y="0"/>
                  </a:moveTo>
                  <a:lnTo>
                    <a:pt x="974000" y="0"/>
                  </a:lnTo>
                  <a:lnTo>
                    <a:pt x="986126" y="194001"/>
                  </a:lnTo>
                  <a:cubicBezTo>
                    <a:pt x="1006021" y="421530"/>
                    <a:pt x="1048033" y="699388"/>
                    <a:pt x="1129304" y="1021019"/>
                  </a:cubicBezTo>
                  <a:lnTo>
                    <a:pt x="1208676" y="1301750"/>
                  </a:lnTo>
                  <a:lnTo>
                    <a:pt x="0" y="1301750"/>
                  </a:lnTo>
                  <a:lnTo>
                    <a:pt x="52059" y="1126354"/>
                  </a:lnTo>
                  <a:cubicBezTo>
                    <a:pt x="135984" y="804851"/>
                    <a:pt x="193519" y="469953"/>
                    <a:pt x="210027" y="13003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cap="flat">
              <a:prstDash val="solid"/>
            </a:ln>
          </p:spPr>
          <p:txBody>
            <a:bodyPr vert="horz" wrap="square" lIns="91440" tIns="45720" rIns="91440" bIns="45720" anchor="ctr"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6053847" y="3439476"/>
              <a:ext cx="556986" cy="551090"/>
            </a:xfrm>
            <a:prstGeom prst="rect">
              <a:avLst/>
            </a:prstGeom>
            <a:noFill/>
            <a:ln cap="flat" cmpd="sng">
              <a:prstDash val="solid"/>
            </a:ln>
          </p:spPr>
          <p:txBody>
            <a:bodyPr vert="horz" wrap="square" lIns="91440" tIns="90000" rIns="91440" bIns="90000" anchor="b">
              <a:spAutoFit/>
            </a:bodyPr>
            <a:lstStyle/>
            <a:p>
              <a:pPr marL="0" algn="ctr"/>
              <a:r>
                <a:rPr lang="en-US" sz="2400" b="1" i="0" u="none" baseline="0">
                  <a:solidFill>
                    <a:schemeClr val="lt1"/>
                  </a:solidFill>
                  <a:latin typeface="Arial"/>
                  <a:ea typeface="Arial"/>
                </a:rPr>
                <a:t>02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26779" y="4109872"/>
            <a:ext cx="2276800" cy="1301750"/>
            <a:chOff x="5201843" y="4254500"/>
            <a:chExt cx="2276800" cy="1301750"/>
          </a:xfrm>
        </p:grpSpPr>
        <p:sp>
          <p:nvSpPr>
            <p:cNvPr id="17" name="Freeform 17"/>
            <p:cNvSpPr/>
            <p:nvPr/>
          </p:nvSpPr>
          <p:spPr>
            <a:xfrm>
              <a:off x="5201843" y="4254500"/>
              <a:ext cx="2276800" cy="1301750"/>
            </a:xfrm>
            <a:custGeom>
              <a:avLst/>
              <a:gdLst/>
              <a:ahLst/>
              <a:cxnLst/>
              <a:rect l="l" t="t" r="r" b="b"/>
              <a:pathLst>
                <a:path w="2276800" h="1301750">
                  <a:moveTo>
                    <a:pt x="531447" y="0"/>
                  </a:moveTo>
                  <a:lnTo>
                    <a:pt x="1740123" y="0"/>
                  </a:lnTo>
                  <a:lnTo>
                    <a:pt x="1755743" y="55248"/>
                  </a:lnTo>
                  <a:cubicBezTo>
                    <a:pt x="1865092" y="405333"/>
                    <a:pt x="2019413" y="797007"/>
                    <a:pt x="2235850" y="1223714"/>
                  </a:cubicBezTo>
                  <a:lnTo>
                    <a:pt x="2276800" y="1301750"/>
                  </a:lnTo>
                  <a:lnTo>
                    <a:pt x="0" y="1301750"/>
                  </a:lnTo>
                  <a:lnTo>
                    <a:pt x="37949" y="1230641"/>
                  </a:lnTo>
                  <a:cubicBezTo>
                    <a:pt x="195027" y="921999"/>
                    <a:pt x="347831" y="574776"/>
                    <a:pt x="471065" y="203441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cap="flat">
              <a:prstDash val="solid"/>
            </a:ln>
          </p:spPr>
          <p:txBody>
            <a:bodyPr vert="horz" wrap="square" lIns="91440" tIns="45720" rIns="91440" bIns="45720" anchor="ctr"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6053847" y="4682243"/>
              <a:ext cx="556986" cy="551090"/>
            </a:xfrm>
            <a:prstGeom prst="rect">
              <a:avLst/>
            </a:prstGeom>
            <a:noFill/>
            <a:ln cap="flat" cmpd="sng">
              <a:prstDash val="solid"/>
            </a:ln>
          </p:spPr>
          <p:txBody>
            <a:bodyPr vert="horz" wrap="square" lIns="91440" tIns="90000" rIns="91440" bIns="90000" anchor="b">
              <a:spAutoFit/>
            </a:bodyPr>
            <a:lstStyle/>
            <a:p>
              <a:pPr marL="0" algn="ctr"/>
              <a:r>
                <a:rPr lang="en-US" sz="2400" b="1" i="0" u="none" baseline="0">
                  <a:solidFill>
                    <a:schemeClr val="lt1"/>
                  </a:solidFill>
                  <a:latin typeface="Arial"/>
                  <a:ea typeface="Arial"/>
                </a:rPr>
                <a:t>03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660399" y="4500137"/>
            <a:ext cx="3377074" cy="42797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90000" rIns="91440" bIns="90000" anchor="t">
            <a:spAutoFit/>
          </a:bodyPr>
          <a:lstStyle/>
          <a:p>
            <a:pPr marL="0" algn="r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Key Features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60399" y="4928116"/>
            <a:ext cx="3377074" cy="147268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r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>
                    <a:alpha val="60000"/>
                  </a:srgbClr>
                </a:solidFill>
                <a:latin typeface="微软雅黑"/>
                <a:ea typeface="微软雅黑"/>
              </a:rPr>
              <a:t>Real-time transaction monitoring, automated invoice processing, and </a:t>
            </a:r>
            <a:r>
              <a:rPr lang="en-US" altLang="zh-CN" sz="1400" dirty="0">
                <a:solidFill>
                  <a:srgbClr val="000000">
                    <a:alpha val="60000"/>
                  </a:srgbClr>
                </a:solidFill>
                <a:latin typeface="微软雅黑"/>
                <a:ea typeface="微软雅黑"/>
              </a:rPr>
              <a:t>user-friendly interface to handle financing lines</a:t>
            </a:r>
            <a:r>
              <a:rPr lang="zh-CN" altLang="en-US" sz="1400" b="0" i="0" u="none" baseline="0" dirty="0">
                <a:solidFill>
                  <a:srgbClr val="000000">
                    <a:alpha val="60000"/>
                  </a:srgbClr>
                </a:solidFill>
                <a:latin typeface="微软雅黑"/>
                <a:ea typeface="微软雅黑"/>
              </a:rPr>
              <a:t>.</a:t>
            </a:r>
          </a:p>
        </p:txBody>
      </p:sp>
      <p:cxnSp>
        <p:nvCxnSpPr>
          <p:cNvPr id="21" name="Connector 21"/>
          <p:cNvCxnSpPr/>
          <p:nvPr/>
        </p:nvCxnSpPr>
        <p:spPr>
          <a:xfrm flipH="1">
            <a:off x="4297853" y="4700339"/>
            <a:ext cx="1121223" cy="0"/>
          </a:xfrm>
          <a:prstGeom prst="line">
            <a:avLst/>
          </a:prstGeom>
          <a:ln w="19050" cap="flat" cmpd="sng">
            <a:gradFill>
              <a:gsLst>
                <a:gs pos="0">
                  <a:srgbClr val="778495">
                    <a:alpha val="0"/>
                  </a:srgbClr>
                </a:gs>
                <a:gs pos="100000">
                  <a:srgbClr val="778495"/>
                </a:gs>
              </a:gsLst>
              <a:lin ang="2700000"/>
            </a:gradFill>
            <a:prstDash val="solid"/>
            <a:tailEnd type="oval"/>
          </a:ln>
        </p:spPr>
      </p:cxnSp>
      <p:pic>
        <p:nvPicPr>
          <p:cNvPr id="23" name="Picture 22" descr="A screenshot of a computer&#10;&#10;Description automatically generated">
            <a:extLst>
              <a:ext uri="{FF2B5EF4-FFF2-40B4-BE49-F238E27FC236}">
                <a16:creationId xmlns:a16="http://schemas.microsoft.com/office/drawing/2014/main" id="{89AA6D11-8BEA-232C-4C84-A5D924C1E2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59" r="1350"/>
          <a:stretch/>
        </p:blipFill>
        <p:spPr>
          <a:xfrm>
            <a:off x="7523471" y="1096129"/>
            <a:ext cx="4235970" cy="171199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 dirty="0">
                <a:solidFill>
                  <a:schemeClr val="accent1"/>
                </a:solidFill>
                <a:latin typeface="微软雅黑"/>
                <a:ea typeface="微软雅黑"/>
              </a:rPr>
              <a:t>Microfinance</a:t>
            </a:r>
          </a:p>
        </p:txBody>
      </p:sp>
      <p:sp>
        <p:nvSpPr>
          <p:cNvPr id="3" name="AutoShape 3"/>
          <p:cNvSpPr/>
          <p:nvPr/>
        </p:nvSpPr>
        <p:spPr>
          <a:xfrm>
            <a:off x="6348" y="0"/>
            <a:ext cx="5003762" cy="6858000"/>
          </a:xfrm>
          <a:prstGeom prst="rect">
            <a:avLst/>
          </a:prstGeom>
          <a:solidFill>
            <a:srgbClr val="000000">
              <a:alpha val="10000"/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373137" y="1130300"/>
            <a:ext cx="1050288" cy="110799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r">
              <a:defRPr/>
            </a:pPr>
            <a:r>
              <a:rPr lang="en-US" sz="6600" b="1" i="0" u="none" spc="-300" baseline="0">
                <a:solidFill>
                  <a:srgbClr val="000000">
                    <a:alpha val="10000"/>
                    <a:lumMod val="50000"/>
                    <a:lumOff val="50000"/>
                  </a:srgbClr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6387150" y="1278915"/>
            <a:ext cx="514444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 dirty="0">
                <a:ln/>
                <a:solidFill>
                  <a:schemeClr val="accent1"/>
                </a:solidFill>
                <a:latin typeface="微软雅黑"/>
                <a:ea typeface="微软雅黑"/>
              </a:rPr>
              <a:t>Product Overview</a:t>
            </a:r>
            <a:endParaRPr lang="en-US" sz="1100" dirty="0"/>
          </a:p>
        </p:txBody>
      </p:sp>
      <p:sp>
        <p:nvSpPr>
          <p:cNvPr id="6" name="TextBox 6"/>
          <p:cNvSpPr txBox="1"/>
          <p:nvPr/>
        </p:nvSpPr>
        <p:spPr>
          <a:xfrm>
            <a:off x="6388354" y="1621685"/>
            <a:ext cx="5144449" cy="135017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sz="1400" b="0" i="0" u="none" baseline="0" dirty="0">
                <a:ln/>
                <a:solidFill>
                  <a:srgbClr val="000000"/>
                </a:solidFill>
                <a:latin typeface="+mn-ea"/>
                <a:ea typeface="+mn-ea"/>
              </a:rPr>
              <a:t>Microfinance is a financial service that provides very small loans, savings accounts, and other financial products to low-income individuals and who traditionally lack access to such services from traditional banks.</a:t>
            </a:r>
            <a:endParaRPr lang="en-US" sz="1100" dirty="0"/>
          </a:p>
        </p:txBody>
      </p:sp>
      <p:sp>
        <p:nvSpPr>
          <p:cNvPr id="7" name="TextBox 7"/>
          <p:cNvSpPr txBox="1"/>
          <p:nvPr/>
        </p:nvSpPr>
        <p:spPr>
          <a:xfrm>
            <a:off x="5373136" y="2957591"/>
            <a:ext cx="1050289" cy="110799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r">
              <a:defRPr/>
            </a:pPr>
            <a:r>
              <a:rPr lang="en-US" sz="6600" b="1" i="0" u="none" spc="-300" baseline="0" dirty="0">
                <a:solidFill>
                  <a:srgbClr val="000000">
                    <a:alpha val="10000"/>
                    <a:lumMod val="50000"/>
                    <a:lumOff val="50000"/>
                  </a:srgbClr>
                </a:solidFill>
                <a:latin typeface="Arial"/>
                <a:ea typeface="Arial"/>
              </a:rPr>
              <a:t>02</a:t>
            </a:r>
            <a:endParaRPr lang="en-US" sz="1100" dirty="0"/>
          </a:p>
        </p:txBody>
      </p:sp>
      <p:sp>
        <p:nvSpPr>
          <p:cNvPr id="8" name="TextBox 8"/>
          <p:cNvSpPr txBox="1"/>
          <p:nvPr/>
        </p:nvSpPr>
        <p:spPr>
          <a:xfrm>
            <a:off x="6387149" y="3173035"/>
            <a:ext cx="514444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 dirty="0">
                <a:ln/>
                <a:solidFill>
                  <a:schemeClr val="accent1"/>
                </a:solidFill>
                <a:latin typeface="微软雅黑"/>
                <a:ea typeface="微软雅黑"/>
              </a:rPr>
              <a:t>Market Impact</a:t>
            </a:r>
            <a:endParaRPr lang="en-US" sz="1100" dirty="0"/>
          </a:p>
        </p:txBody>
      </p:sp>
      <p:sp>
        <p:nvSpPr>
          <p:cNvPr id="9" name="TextBox 9"/>
          <p:cNvSpPr txBox="1"/>
          <p:nvPr/>
        </p:nvSpPr>
        <p:spPr>
          <a:xfrm>
            <a:off x="6387149" y="3576761"/>
            <a:ext cx="5144449" cy="70384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sz="1400" b="0" i="0" u="none" baseline="0" dirty="0">
                <a:ln/>
                <a:solidFill>
                  <a:srgbClr val="000000"/>
                </a:solidFill>
                <a:latin typeface="+mn-ea"/>
                <a:ea typeface="+mn-ea"/>
              </a:rPr>
              <a:t>Qardy has empowered thousands of individuals </a:t>
            </a:r>
            <a:r>
              <a:rPr lang="en-US" sz="1400" dirty="0">
                <a:ln/>
                <a:solidFill>
                  <a:srgbClr val="000000"/>
                </a:solidFill>
                <a:latin typeface="+mn-ea"/>
              </a:rPr>
              <a:t>through the addition of the microfinance product.</a:t>
            </a:r>
            <a:endParaRPr lang="en-US" sz="1100" dirty="0"/>
          </a:p>
        </p:txBody>
      </p:sp>
      <p:sp>
        <p:nvSpPr>
          <p:cNvPr id="10" name="TextBox 10"/>
          <p:cNvSpPr txBox="1"/>
          <p:nvPr/>
        </p:nvSpPr>
        <p:spPr>
          <a:xfrm>
            <a:off x="5373136" y="4739696"/>
            <a:ext cx="1050289" cy="110799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r">
              <a:defRPr/>
            </a:pPr>
            <a:r>
              <a:rPr lang="en-US" sz="6600" b="1" i="0" u="none" spc="-300" baseline="0">
                <a:solidFill>
                  <a:srgbClr val="000000">
                    <a:alpha val="10000"/>
                    <a:lumMod val="50000"/>
                    <a:lumOff val="50000"/>
                  </a:srgbClr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387150" y="4888311"/>
            <a:ext cx="514444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ln/>
                <a:solidFill>
                  <a:schemeClr val="accent1"/>
                </a:solidFill>
                <a:latin typeface="微软雅黑"/>
                <a:ea typeface="微软雅黑"/>
              </a:rPr>
              <a:t>Key Features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387149" y="5297937"/>
            <a:ext cx="5144449" cy="70384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sz="1400" dirty="0">
                <a:ln/>
                <a:solidFill>
                  <a:srgbClr val="000000"/>
                </a:solidFill>
                <a:latin typeface="+mn-ea"/>
              </a:rPr>
              <a:t>Streamlined</a:t>
            </a:r>
            <a:r>
              <a:rPr lang="en-US" sz="1400" b="0" i="0" u="none" baseline="0" dirty="0">
                <a:ln/>
                <a:solidFill>
                  <a:srgbClr val="000000"/>
                </a:solidFill>
                <a:latin typeface="+mn-ea"/>
                <a:ea typeface="+mn-ea"/>
              </a:rPr>
              <a:t> application process, flexible loan options, and easy-to-use. 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866BBB8-2784-B038-F047-3C62204B7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80" y="1346466"/>
            <a:ext cx="4508298" cy="410851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3"/>
          </p:nvPr>
        </p:nvSpPr>
        <p:spPr>
          <a:xfrm>
            <a:off x="660400" y="2514600"/>
            <a:ext cx="10858500" cy="701731"/>
          </a:xfrm>
        </p:spPr>
        <p:txBody>
          <a:bodyPr vert="horz" lIns="91440" tIns="45720" rIns="91440" bIns="45720" anchor="b">
            <a:spAutoFit/>
          </a:bodyPr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altLang="en-US" sz="4400" b="1" i="0" u="none" baseline="0" dirty="0">
                <a:solidFill>
                  <a:srgbClr val="FFFFFF"/>
                </a:solidFill>
                <a:latin typeface="微软雅黑"/>
                <a:ea typeface="微软雅黑"/>
              </a:rPr>
              <a:t>Thank you for listening.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343595" y="3505200"/>
            <a:ext cx="3492110" cy="493581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1800" b="0" i="0" u="none" baseline="0" dirty="0">
                <a:solidFill>
                  <a:schemeClr val="accent1"/>
                </a:solidFill>
                <a:latin typeface="微软雅黑"/>
                <a:ea typeface="微软雅黑"/>
              </a:rPr>
              <a:t>Any Questions?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1B69"/>
      </a:accent1>
      <a:accent2>
        <a:srgbClr val="5D86FF"/>
      </a:accent2>
      <a:accent3>
        <a:srgbClr val="A0A0A0"/>
      </a:accent3>
      <a:accent4>
        <a:srgbClr val="7D7D7D"/>
      </a:accent4>
      <a:accent5>
        <a:srgbClr val="585858"/>
      </a:accent5>
      <a:accent6>
        <a:srgbClr val="4A4A4A"/>
      </a:accent6>
      <a:hlink>
        <a:srgbClr val="4472C4"/>
      </a:hlink>
      <a:folHlink>
        <a:srgbClr val="BFBFB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1463</Words>
  <Application>Microsoft Office PowerPoint</Application>
  <PresentationFormat>Widescreen</PresentationFormat>
  <Paragraphs>96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微软雅黑</vt:lpstr>
      <vt:lpstr>Arial</vt:lpstr>
      <vt:lpstr>Calibri</vt:lpstr>
      <vt:lpstr>OPPOSans-B-subset132</vt:lpstr>
      <vt:lpstr>Office Theme</vt:lpstr>
      <vt:lpstr>Qardy – 2024 Achievements</vt:lpstr>
      <vt:lpstr>Product Releases Overview</vt:lpstr>
      <vt:lpstr>User Portal Release Versions by Quarter</vt:lpstr>
      <vt:lpstr>Finance Portal Release Versions by Quarter</vt:lpstr>
      <vt:lpstr>Admin Portal Release Versions by Quarter</vt:lpstr>
      <vt:lpstr>New Main Products</vt:lpstr>
      <vt:lpstr>Supply Chain Finance</vt:lpstr>
      <vt:lpstr>Microfinance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Abdelrahman Kamel</dc:creator>
  <cp:lastModifiedBy>Abdelrahman Kamel</cp:lastModifiedBy>
  <cp:revision>13</cp:revision>
  <dcterms:created xsi:type="dcterms:W3CDTF">2006-08-16T00:00:00Z</dcterms:created>
  <dcterms:modified xsi:type="dcterms:W3CDTF">2026-07-23T17:27:41Z</dcterms:modified>
</cp:coreProperties>
</file>